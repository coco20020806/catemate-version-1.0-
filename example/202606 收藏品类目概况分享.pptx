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0" r:id="rId5"/>
    <p:sldMasterId id="214748371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y="5143500" cx="9144000"/>
  <p:notesSz cx="6858000" cy="9144000"/>
  <p:embeddedFontLst>
    <p:embeddedFont>
      <p:font typeface="Roboto"/>
      <p:regular r:id="rId43"/>
      <p:bold r:id="rId44"/>
      <p:italic r:id="rId45"/>
      <p:boldItalic r:id="rId46"/>
    </p:embeddedFont>
    <p:embeddedFont>
      <p:font typeface="Noto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1BA930-9C6C-4BE9-A640-E6834597E2A7}">
  <a:tblStyle styleId="{BD1BA930-9C6C-4BE9-A640-E6834597E2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font" Target="fonts/Roboto-bold.fntdata"/><Relationship Id="rId43" Type="http://schemas.openxmlformats.org/officeDocument/2006/relationships/font" Target="fonts/Roboto-regular.fntdata"/><Relationship Id="rId46" Type="http://schemas.openxmlformats.org/officeDocument/2006/relationships/font" Target="fonts/Roboto-boldItalic.fntdata"/><Relationship Id="rId45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NotoSans-bold.fntdata"/><Relationship Id="rId47" Type="http://schemas.openxmlformats.org/officeDocument/2006/relationships/font" Target="fonts/NotoSans-regular.fntdata"/><Relationship Id="rId49" Type="http://schemas.openxmlformats.org/officeDocument/2006/relationships/font" Target="fonts/Noto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schemas.openxmlformats.org/officeDocument/2006/relationships/font" Target="fonts/NotoSans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3ac1bed7d_0_7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g3b3ac1bed7d_0_79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3ac1bed7d_0_79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b3ac1bed7d_0_7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3458cc3d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f3458cc3d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3458cc3d2_0_2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f3458cc3d2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f3458cc3d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f3458cc3d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3458cc3d2_0_2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g3f3458cc3d2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3458cc3d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f3458cc3d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3458cc3d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f3458cc3d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3458cc3d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f3458cc3d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3458cc3d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f3458cc3d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3458cc3d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f3458cc3d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f3458cc3d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f3458cc3d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3458cc3d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f3458cc3d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3458cc3d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f3458cc3d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3458cc3d2_0_2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g3f3458cc3d2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3458cc3d2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f3458cc3d2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3458cc3d2_0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g3f3458cc3d2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f3458cc3d2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f3458cc3d2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f3458cc3d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f3458cc3d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f3458cc3d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f3458cc3d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3458cc3d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f3458cc3d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f3458cc3d2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f3458cc3d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f3458cc3d2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f3458cc3d2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f3458cc3d2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f3458cc3d2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f3458cc3d2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f3458cc3d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f3458cc3d2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f3458cc3d2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f3458cc3d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f3458cc3d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f3458cc3d2_0_4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g3f3458cc3d2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f3458cc3d2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f3458cc3d2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f3458cc3d2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f3458cc3d2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f3458cc3d2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f3458cc3d2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f3458cc3d2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f3458cc3d2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f3458cc3d2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3f3458cc3d2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f3458cc3d2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f3458cc3d2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b3ac1bed7d_0_10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g3b3ac1bed7d_0_10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ndard header only 8 2">
  <p:cSld name="2_Standard header only 8 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33180" y="933253"/>
            <a:ext cx="80778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Title and Content 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15"/>
          <p:cNvCxnSpPr/>
          <p:nvPr/>
        </p:nvCxnSpPr>
        <p:spPr>
          <a:xfrm>
            <a:off x="2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15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>
            <p:ph type="title"/>
          </p:nvPr>
        </p:nvSpPr>
        <p:spPr>
          <a:xfrm>
            <a:off x="533180" y="89320"/>
            <a:ext cx="807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594308" y="4928416"/>
            <a:ext cx="4947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ndard header only 1">
  <p:cSld name="2_Standard header only 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6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16"/>
          <p:cNvCxnSpPr/>
          <p:nvPr/>
        </p:nvCxnSpPr>
        <p:spPr>
          <a:xfrm>
            <a:off x="2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6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533180" y="89320"/>
            <a:ext cx="807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533180" y="933253"/>
            <a:ext cx="80775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6"/>
          <p:cNvSpPr txBox="1"/>
          <p:nvPr/>
        </p:nvSpPr>
        <p:spPr>
          <a:xfrm>
            <a:off x="1311830" y="4811315"/>
            <a:ext cx="6663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00" lIns="67450" spcFirstLastPara="1" rIns="67450" wrap="square" tIns="4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594308" y="4928416"/>
            <a:ext cx="4947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5">
  <p:cSld name="Title and Content 5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Google Shape;72;p17"/>
          <p:cNvCxnSpPr/>
          <p:nvPr/>
        </p:nvCxnSpPr>
        <p:spPr>
          <a:xfrm>
            <a:off x="2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17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>
            <p:ph type="title"/>
          </p:nvPr>
        </p:nvSpPr>
        <p:spPr>
          <a:xfrm>
            <a:off x="533180" y="89320"/>
            <a:ext cx="807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594308" y="4928416"/>
            <a:ext cx="4947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18"/>
          <p:cNvCxnSpPr/>
          <p:nvPr/>
        </p:nvCxnSpPr>
        <p:spPr>
          <a:xfrm>
            <a:off x="2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8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 txBox="1"/>
          <p:nvPr>
            <p:ph type="title"/>
          </p:nvPr>
        </p:nvSpPr>
        <p:spPr>
          <a:xfrm>
            <a:off x="533180" y="89320"/>
            <a:ext cx="807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594308" y="4928416"/>
            <a:ext cx="4947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ndard header only 1 2">
  <p:cSld name="2_Standard header only 1 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9"/>
          <p:cNvCxnSpPr/>
          <p:nvPr/>
        </p:nvCxnSpPr>
        <p:spPr>
          <a:xfrm>
            <a:off x="1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9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533180" y="933253"/>
            <a:ext cx="80778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3">
  <p:cSld name="Custom Layout 1 3">
    <p:bg>
      <p:bgPr>
        <a:solidFill>
          <a:srgbClr val="EE4D2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ctrTitle"/>
          </p:nvPr>
        </p:nvSpPr>
        <p:spPr>
          <a:xfrm>
            <a:off x="1143000" y="2042250"/>
            <a:ext cx="6858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8556785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">
  <p:cSld name="Title and Content 4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21"/>
          <p:cNvCxnSpPr/>
          <p:nvPr/>
        </p:nvCxnSpPr>
        <p:spPr>
          <a:xfrm>
            <a:off x="2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21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21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1"/>
          <p:cNvSpPr txBox="1"/>
          <p:nvPr>
            <p:ph type="title"/>
          </p:nvPr>
        </p:nvSpPr>
        <p:spPr>
          <a:xfrm>
            <a:off x="533180" y="89320"/>
            <a:ext cx="807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2" type="sldNum"/>
          </p:nvPr>
        </p:nvSpPr>
        <p:spPr>
          <a:xfrm>
            <a:off x="8594308" y="4928416"/>
            <a:ext cx="4947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Slide">
  <p:cSld name="Body Slid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 rotWithShape="1">
          <a:blip r:embed="rId2">
            <a:alphaModFix/>
          </a:blip>
          <a:srcRect b="0" l="0" r="70007" t="0"/>
          <a:stretch/>
        </p:blipFill>
        <p:spPr>
          <a:xfrm>
            <a:off x="236120" y="137195"/>
            <a:ext cx="411480" cy="44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6394" y="165607"/>
            <a:ext cx="480059" cy="384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2"/>
          <p:cNvSpPr txBox="1"/>
          <p:nvPr>
            <p:ph type="title"/>
          </p:nvPr>
        </p:nvSpPr>
        <p:spPr>
          <a:xfrm>
            <a:off x="643370" y="222750"/>
            <a:ext cx="7725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03" name="Google Shape;103;p22"/>
          <p:cNvCxnSpPr/>
          <p:nvPr/>
        </p:nvCxnSpPr>
        <p:spPr>
          <a:xfrm>
            <a:off x="697276" y="549653"/>
            <a:ext cx="7749300" cy="6900"/>
          </a:xfrm>
          <a:prstGeom prst="straightConnector1">
            <a:avLst/>
          </a:prstGeom>
          <a:noFill/>
          <a:ln cap="flat" cmpd="sng" w="1905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22"/>
          <p:cNvSpPr txBox="1"/>
          <p:nvPr/>
        </p:nvSpPr>
        <p:spPr>
          <a:xfrm>
            <a:off x="8806976" y="4900703"/>
            <a:ext cx="2970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00" lIns="67450" spcFirstLastPara="1" rIns="67450" wrap="square" tIns="4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/>
              <a:buNone/>
            </a:pPr>
            <a:fld id="{00000000-1234-1234-1234-123412341234}" type="slidenum">
              <a:rPr b="0" i="0" lang="en-GB" sz="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19275" lIns="38575" spcFirstLastPara="1" rIns="38575" wrap="square" tIns="1927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ndard header only 1 1">
  <p:cSld name="3_Standard header only 1 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3"/>
          <p:cNvGrpSpPr/>
          <p:nvPr/>
        </p:nvGrpSpPr>
        <p:grpSpPr>
          <a:xfrm>
            <a:off x="2" y="525147"/>
            <a:ext cx="8978033" cy="29943"/>
            <a:chOff x="173" y="457"/>
            <a:chExt cx="6004" cy="25"/>
          </a:xfrm>
        </p:grpSpPr>
        <p:cxnSp>
          <p:nvCxnSpPr>
            <p:cNvPr id="108" name="Google Shape;108;p23"/>
            <p:cNvCxnSpPr/>
            <p:nvPr/>
          </p:nvCxnSpPr>
          <p:spPr>
            <a:xfrm>
              <a:off x="173" y="482"/>
              <a:ext cx="6000" cy="0"/>
            </a:xfrm>
            <a:prstGeom prst="straightConnector1">
              <a:avLst/>
            </a:prstGeom>
            <a:noFill/>
            <a:ln cap="flat" cmpd="sng" w="38100">
              <a:solidFill>
                <a:srgbClr val="FF66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" name="Google Shape;109;p23"/>
            <p:cNvSpPr/>
            <p:nvPr/>
          </p:nvSpPr>
          <p:spPr>
            <a:xfrm>
              <a:off x="6177" y="457"/>
              <a:ext cx="0" cy="0"/>
            </a:xfrm>
            <a:prstGeom prst="ellipse">
              <a:avLst/>
            </a:prstGeom>
            <a:solidFill>
              <a:srgbClr val="FF6600"/>
            </a:solidFill>
            <a:ln cap="flat" cmpd="sng" w="9525">
              <a:solidFill>
                <a:srgbClr val="FF6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450" lIns="28925" spcFirstLastPara="1" rIns="28925" wrap="square" tIns="1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23"/>
          <p:cNvSpPr txBox="1"/>
          <p:nvPr>
            <p:ph type="title"/>
          </p:nvPr>
        </p:nvSpPr>
        <p:spPr>
          <a:xfrm>
            <a:off x="456482" y="123576"/>
            <a:ext cx="82182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21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1" name="Google Shape;111;p23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3"/>
          <p:cNvSpPr txBox="1"/>
          <p:nvPr>
            <p:ph idx="12" type="sldNum"/>
          </p:nvPr>
        </p:nvSpPr>
        <p:spPr>
          <a:xfrm>
            <a:off x="8594308" y="4928416"/>
            <a:ext cx="4947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">
  <p:cSld name="Title and Content 1 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type="title"/>
          </p:nvPr>
        </p:nvSpPr>
        <p:spPr>
          <a:xfrm>
            <a:off x="534601" y="89100"/>
            <a:ext cx="80784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24"/>
          <p:cNvSpPr txBox="1"/>
          <p:nvPr>
            <p:ph idx="1" type="body"/>
          </p:nvPr>
        </p:nvSpPr>
        <p:spPr>
          <a:xfrm>
            <a:off x="534601" y="816103"/>
            <a:ext cx="8078400" cy="3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24"/>
          <p:cNvSpPr txBox="1"/>
          <p:nvPr>
            <p:ph idx="10" type="dt"/>
          </p:nvPr>
        </p:nvSpPr>
        <p:spPr>
          <a:xfrm>
            <a:off x="534601" y="4857314"/>
            <a:ext cx="2057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24"/>
          <p:cNvSpPr txBox="1"/>
          <p:nvPr>
            <p:ph idx="11" type="ftr"/>
          </p:nvPr>
        </p:nvSpPr>
        <p:spPr>
          <a:xfrm>
            <a:off x="3028950" y="4857314"/>
            <a:ext cx="30861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6555600" y="4857314"/>
            <a:ext cx="2057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9" name="Google Shape;119;p24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4"/>
          <p:cNvCxnSpPr/>
          <p:nvPr/>
        </p:nvCxnSpPr>
        <p:spPr>
          <a:xfrm>
            <a:off x="2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24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 1">
  <p:cSld name="Title and Content 1 1 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534601" y="89100"/>
            <a:ext cx="80784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534601" y="816103"/>
            <a:ext cx="8078400" cy="3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5"/>
          <p:cNvSpPr txBox="1"/>
          <p:nvPr>
            <p:ph idx="10" type="dt"/>
          </p:nvPr>
        </p:nvSpPr>
        <p:spPr>
          <a:xfrm>
            <a:off x="534601" y="4857314"/>
            <a:ext cx="2057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5"/>
          <p:cNvSpPr txBox="1"/>
          <p:nvPr>
            <p:ph idx="11" type="ftr"/>
          </p:nvPr>
        </p:nvSpPr>
        <p:spPr>
          <a:xfrm>
            <a:off x="3028950" y="4857314"/>
            <a:ext cx="30861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6555600" y="4857314"/>
            <a:ext cx="2057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8" name="Google Shape;128;p25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25"/>
          <p:cNvCxnSpPr/>
          <p:nvPr/>
        </p:nvCxnSpPr>
        <p:spPr>
          <a:xfrm>
            <a:off x="2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25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5" name="Google Shape;135;p26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26"/>
          <p:cNvCxnSpPr/>
          <p:nvPr/>
        </p:nvCxnSpPr>
        <p:spPr>
          <a:xfrm>
            <a:off x="2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26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 txBox="1"/>
          <p:nvPr/>
        </p:nvSpPr>
        <p:spPr>
          <a:xfrm>
            <a:off x="533180" y="89320"/>
            <a:ext cx="807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00" lIns="51400" spcFirstLastPara="1" rIns="51400" wrap="square" tIns="51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27"/>
          <p:cNvSpPr txBox="1"/>
          <p:nvPr>
            <p:ph idx="12" type="sldNum"/>
          </p:nvPr>
        </p:nvSpPr>
        <p:spPr>
          <a:xfrm>
            <a:off x="8536306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 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8472459" y="476889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4" name="Google Shape;144;p28"/>
          <p:cNvSpPr txBox="1"/>
          <p:nvPr/>
        </p:nvSpPr>
        <p:spPr>
          <a:xfrm>
            <a:off x="369656" y="217287"/>
            <a:ext cx="63402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50" spcFirstLastPara="1" rIns="68550" wrap="square" tIns="34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b="0" i="0" sz="2401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8"/>
          <p:cNvSpPr/>
          <p:nvPr/>
        </p:nvSpPr>
        <p:spPr>
          <a:xfrm rot="5400000">
            <a:off x="-2223953" y="2861162"/>
            <a:ext cx="4500000" cy="64800"/>
          </a:xfrm>
          <a:prstGeom prst="rect">
            <a:avLst/>
          </a:prstGeom>
          <a:solidFill>
            <a:srgbClr val="FF3A12"/>
          </a:solidFill>
          <a:ln cap="flat" cmpd="sng" w="12700">
            <a:solidFill>
              <a:srgbClr val="F1592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8"/>
          <p:cNvSpPr/>
          <p:nvPr/>
        </p:nvSpPr>
        <p:spPr>
          <a:xfrm rot="5400000">
            <a:off x="-351953" y="345600"/>
            <a:ext cx="756000" cy="648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8"/>
          <p:cNvSpPr/>
          <p:nvPr/>
        </p:nvSpPr>
        <p:spPr>
          <a:xfrm>
            <a:off x="652184" y="459129"/>
            <a:ext cx="8172000" cy="360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F1592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652463" y="756000"/>
            <a:ext cx="8121600" cy="3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1"/>
              </a:spcBef>
              <a:spcAft>
                <a:spcPts val="1601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9" name="Google Shape;149;p28"/>
          <p:cNvPicPr preferRelativeResize="0"/>
          <p:nvPr/>
        </p:nvPicPr>
        <p:blipFill rotWithShape="1">
          <a:blip r:embed="rId2">
            <a:alphaModFix/>
          </a:blip>
          <a:srcRect b="0" l="0" r="72233" t="0"/>
          <a:stretch/>
        </p:blipFill>
        <p:spPr>
          <a:xfrm>
            <a:off x="227016" y="127405"/>
            <a:ext cx="264070" cy="3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8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 2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8472459" y="476889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3" name="Google Shape;153;p29"/>
          <p:cNvSpPr txBox="1"/>
          <p:nvPr/>
        </p:nvSpPr>
        <p:spPr>
          <a:xfrm>
            <a:off x="369656" y="217287"/>
            <a:ext cx="63402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50" spcFirstLastPara="1" rIns="68550" wrap="square" tIns="34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b="0" i="0" sz="2401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9"/>
          <p:cNvSpPr/>
          <p:nvPr/>
        </p:nvSpPr>
        <p:spPr>
          <a:xfrm rot="5400000">
            <a:off x="-2223953" y="2861162"/>
            <a:ext cx="4500000" cy="64800"/>
          </a:xfrm>
          <a:prstGeom prst="rect">
            <a:avLst/>
          </a:prstGeom>
          <a:solidFill>
            <a:srgbClr val="FF3A12"/>
          </a:solidFill>
          <a:ln cap="flat" cmpd="sng" w="12700">
            <a:solidFill>
              <a:srgbClr val="F1592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9"/>
          <p:cNvSpPr/>
          <p:nvPr/>
        </p:nvSpPr>
        <p:spPr>
          <a:xfrm rot="5400000">
            <a:off x="-351953" y="345600"/>
            <a:ext cx="756000" cy="648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9"/>
          <p:cNvSpPr/>
          <p:nvPr/>
        </p:nvSpPr>
        <p:spPr>
          <a:xfrm>
            <a:off x="652184" y="459129"/>
            <a:ext cx="8172000" cy="360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F1592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652463" y="756000"/>
            <a:ext cx="8121600" cy="3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1"/>
              </a:spcBef>
              <a:spcAft>
                <a:spcPts val="1601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8" name="Google Shape;158;p29"/>
          <p:cNvPicPr preferRelativeResize="0"/>
          <p:nvPr/>
        </p:nvPicPr>
        <p:blipFill rotWithShape="1">
          <a:blip r:embed="rId2">
            <a:alphaModFix/>
          </a:blip>
          <a:srcRect b="0" l="0" r="72233" t="0"/>
          <a:stretch/>
        </p:blipFill>
        <p:spPr>
          <a:xfrm>
            <a:off x="227016" y="127405"/>
            <a:ext cx="264070" cy="3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9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 3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idx="12" type="sldNum"/>
          </p:nvPr>
        </p:nvSpPr>
        <p:spPr>
          <a:xfrm>
            <a:off x="8472459" y="476889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30"/>
          <p:cNvSpPr txBox="1"/>
          <p:nvPr/>
        </p:nvSpPr>
        <p:spPr>
          <a:xfrm>
            <a:off x="369656" y="217287"/>
            <a:ext cx="63402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550" spcFirstLastPara="1" rIns="68550" wrap="square" tIns="342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b="0" i="0" sz="2401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0"/>
          <p:cNvSpPr/>
          <p:nvPr/>
        </p:nvSpPr>
        <p:spPr>
          <a:xfrm rot="5400000">
            <a:off x="-2223953" y="2861162"/>
            <a:ext cx="4500000" cy="64800"/>
          </a:xfrm>
          <a:prstGeom prst="rect">
            <a:avLst/>
          </a:prstGeom>
          <a:solidFill>
            <a:srgbClr val="FF3A12"/>
          </a:solidFill>
          <a:ln cap="flat" cmpd="sng" w="12700">
            <a:solidFill>
              <a:srgbClr val="F1592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30"/>
          <p:cNvSpPr/>
          <p:nvPr/>
        </p:nvSpPr>
        <p:spPr>
          <a:xfrm rot="5400000">
            <a:off x="-351953" y="345600"/>
            <a:ext cx="756000" cy="648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30"/>
          <p:cNvSpPr/>
          <p:nvPr/>
        </p:nvSpPr>
        <p:spPr>
          <a:xfrm>
            <a:off x="652184" y="459129"/>
            <a:ext cx="8172000" cy="360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F1592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652463" y="756000"/>
            <a:ext cx="8121600" cy="3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1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1"/>
              </a:spcBef>
              <a:spcAft>
                <a:spcPts val="1601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7" name="Google Shape;167;p30"/>
          <p:cNvPicPr preferRelativeResize="0"/>
          <p:nvPr/>
        </p:nvPicPr>
        <p:blipFill rotWithShape="1">
          <a:blip r:embed="rId2">
            <a:alphaModFix/>
          </a:blip>
          <a:srcRect b="0" l="0" r="72233" t="0"/>
          <a:stretch/>
        </p:blipFill>
        <p:spPr>
          <a:xfrm>
            <a:off x="227016" y="127405"/>
            <a:ext cx="264070" cy="3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0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6">
  <p:cSld name="Title and Content 6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Google Shape;170;p31"/>
          <p:cNvCxnSpPr/>
          <p:nvPr/>
        </p:nvCxnSpPr>
        <p:spPr>
          <a:xfrm>
            <a:off x="2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31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31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/>
          <p:cNvSpPr txBox="1"/>
          <p:nvPr>
            <p:ph type="title"/>
          </p:nvPr>
        </p:nvSpPr>
        <p:spPr>
          <a:xfrm>
            <a:off x="533180" y="89320"/>
            <a:ext cx="807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31"/>
          <p:cNvSpPr txBox="1"/>
          <p:nvPr>
            <p:ph idx="12" type="sldNum"/>
          </p:nvPr>
        </p:nvSpPr>
        <p:spPr>
          <a:xfrm>
            <a:off x="8594308" y="4928416"/>
            <a:ext cx="4947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ndard header only 2">
  <p:cSld name="2_Standard header only 2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2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32"/>
          <p:cNvCxnSpPr/>
          <p:nvPr/>
        </p:nvCxnSpPr>
        <p:spPr>
          <a:xfrm>
            <a:off x="2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32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2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32"/>
          <p:cNvSpPr txBox="1"/>
          <p:nvPr>
            <p:ph idx="12" type="sldNum"/>
          </p:nvPr>
        </p:nvSpPr>
        <p:spPr>
          <a:xfrm>
            <a:off x="694673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533180" y="933253"/>
            <a:ext cx="80778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2" name="Google Shape;182;p32"/>
          <p:cNvSpPr txBox="1"/>
          <p:nvPr/>
        </p:nvSpPr>
        <p:spPr>
          <a:xfrm>
            <a:off x="1311830" y="4811315"/>
            <a:ext cx="6663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00" lIns="67450" spcFirstLastPara="1" rIns="67450" wrap="square" tIns="4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/>
              <a:buNone/>
            </a:pPr>
            <a:r>
              <a:rPr b="0" i="0" lang="en-GB" sz="8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8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32"/>
          <p:cNvPicPr preferRelativeResize="0"/>
          <p:nvPr/>
        </p:nvPicPr>
        <p:blipFill rotWithShape="1">
          <a:blip r:embed="rId3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/>
        </p:nvSpPr>
        <p:spPr>
          <a:xfrm>
            <a:off x="6722780" y="4808143"/>
            <a:ext cx="2046900" cy="1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Arial"/>
              <a:buNone/>
            </a:pPr>
            <a:r>
              <a:rPr b="0" i="0" lang="en-GB" sz="701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Copyright © 2019 Accenture. All rights reserved. 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3"/>
          <p:cNvSpPr txBox="1"/>
          <p:nvPr/>
        </p:nvSpPr>
        <p:spPr>
          <a:xfrm>
            <a:off x="8496368" y="4774181"/>
            <a:ext cx="396600" cy="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59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Arial"/>
              <a:buNone/>
            </a:pPr>
            <a:fld id="{00000000-1234-1234-1234-123412341234}" type="slidenum">
              <a:rPr b="0" i="0" lang="en-GB" sz="701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1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19275" lIns="38575" spcFirstLastPara="1" rIns="38575" wrap="square" tIns="19275">
            <a:noAutofit/>
          </a:bodyPr>
          <a:lstStyle>
            <a:lvl1pPr lvl="0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ub Titles and Contents 1" showMasterSp="0">
  <p:cSld name="3_Sub Titles and Contents 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4"/>
          <p:cNvCxnSpPr/>
          <p:nvPr/>
        </p:nvCxnSpPr>
        <p:spPr>
          <a:xfrm>
            <a:off x="554558" y="488414"/>
            <a:ext cx="8397300" cy="0"/>
          </a:xfrm>
          <a:prstGeom prst="straightConnector1">
            <a:avLst/>
          </a:prstGeom>
          <a:noFill/>
          <a:ln cap="flat" cmpd="sng" w="508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34"/>
          <p:cNvSpPr txBox="1"/>
          <p:nvPr>
            <p:ph type="title"/>
          </p:nvPr>
        </p:nvSpPr>
        <p:spPr>
          <a:xfrm>
            <a:off x="552450" y="57150"/>
            <a:ext cx="80583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552450" y="1074075"/>
            <a:ext cx="46779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4"/>
          <p:cNvSpPr txBox="1"/>
          <p:nvPr>
            <p:ph idx="2" type="body"/>
          </p:nvPr>
        </p:nvSpPr>
        <p:spPr>
          <a:xfrm>
            <a:off x="550070" y="736922"/>
            <a:ext cx="37932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34"/>
          <p:cNvSpPr txBox="1"/>
          <p:nvPr>
            <p:ph idx="3" type="body"/>
          </p:nvPr>
        </p:nvSpPr>
        <p:spPr>
          <a:xfrm>
            <a:off x="550070" y="1841660"/>
            <a:ext cx="37932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4" name="Google Shape;194;p34"/>
          <p:cNvSpPr txBox="1"/>
          <p:nvPr>
            <p:ph idx="4" type="body"/>
          </p:nvPr>
        </p:nvSpPr>
        <p:spPr>
          <a:xfrm>
            <a:off x="550067" y="3041603"/>
            <a:ext cx="37932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" name="Google Shape;195;p34"/>
          <p:cNvSpPr txBox="1"/>
          <p:nvPr>
            <p:ph idx="12" type="sldNum"/>
          </p:nvPr>
        </p:nvSpPr>
        <p:spPr>
          <a:xfrm>
            <a:off x="8790912" y="4805089"/>
            <a:ext cx="205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descr="shopee-logo-en.png" id="196" name="Google Shape;196;p34"/>
          <p:cNvPicPr preferRelativeResize="0"/>
          <p:nvPr/>
        </p:nvPicPr>
        <p:blipFill rotWithShape="1">
          <a:blip r:embed="rId2">
            <a:alphaModFix/>
          </a:blip>
          <a:srcRect b="0" l="0" r="71130" t="0"/>
          <a:stretch/>
        </p:blipFill>
        <p:spPr>
          <a:xfrm>
            <a:off x="155905" y="151935"/>
            <a:ext cx="337878" cy="370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7">
  <p:cSld name="Title and body 1 7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idx="12" type="sldNum"/>
          </p:nvPr>
        </p:nvSpPr>
        <p:spPr>
          <a:xfrm>
            <a:off x="8624858" y="483878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35"/>
          <p:cNvSpPr txBox="1"/>
          <p:nvPr/>
        </p:nvSpPr>
        <p:spPr>
          <a:xfrm>
            <a:off x="462938" y="80906"/>
            <a:ext cx="8218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ub Titles and Contents 2" showMasterSp="0">
  <p:cSld name="3_Sub Titles and Contents 2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" name="Google Shape;201;p36"/>
          <p:cNvCxnSpPr/>
          <p:nvPr/>
        </p:nvCxnSpPr>
        <p:spPr>
          <a:xfrm>
            <a:off x="554558" y="488414"/>
            <a:ext cx="8397300" cy="0"/>
          </a:xfrm>
          <a:prstGeom prst="straightConnector1">
            <a:avLst/>
          </a:prstGeom>
          <a:noFill/>
          <a:ln cap="flat" cmpd="sng" w="508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36"/>
          <p:cNvSpPr txBox="1"/>
          <p:nvPr>
            <p:ph type="title"/>
          </p:nvPr>
        </p:nvSpPr>
        <p:spPr>
          <a:xfrm>
            <a:off x="552450" y="57150"/>
            <a:ext cx="80583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552450" y="1074075"/>
            <a:ext cx="46779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36"/>
          <p:cNvSpPr txBox="1"/>
          <p:nvPr>
            <p:ph idx="2" type="body"/>
          </p:nvPr>
        </p:nvSpPr>
        <p:spPr>
          <a:xfrm>
            <a:off x="550070" y="736922"/>
            <a:ext cx="37932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36"/>
          <p:cNvSpPr txBox="1"/>
          <p:nvPr>
            <p:ph idx="3" type="body"/>
          </p:nvPr>
        </p:nvSpPr>
        <p:spPr>
          <a:xfrm>
            <a:off x="550070" y="1841660"/>
            <a:ext cx="37932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6" name="Google Shape;206;p36"/>
          <p:cNvSpPr txBox="1"/>
          <p:nvPr>
            <p:ph idx="4" type="body"/>
          </p:nvPr>
        </p:nvSpPr>
        <p:spPr>
          <a:xfrm>
            <a:off x="550067" y="3041603"/>
            <a:ext cx="37932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7" name="Google Shape;207;p36"/>
          <p:cNvSpPr txBox="1"/>
          <p:nvPr>
            <p:ph idx="12" type="sldNum"/>
          </p:nvPr>
        </p:nvSpPr>
        <p:spPr>
          <a:xfrm>
            <a:off x="8790912" y="4805089"/>
            <a:ext cx="205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descr="shopee-logo-en.png" id="208" name="Google Shape;208;p36"/>
          <p:cNvPicPr preferRelativeResize="0"/>
          <p:nvPr/>
        </p:nvPicPr>
        <p:blipFill rotWithShape="1">
          <a:blip r:embed="rId2">
            <a:alphaModFix/>
          </a:blip>
          <a:srcRect b="0" l="0" r="71130" t="0"/>
          <a:stretch/>
        </p:blipFill>
        <p:spPr>
          <a:xfrm>
            <a:off x="155905" y="151935"/>
            <a:ext cx="337878" cy="370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Text">
  <p:cSld name="1_Title and Tex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type="title"/>
          </p:nvPr>
        </p:nvSpPr>
        <p:spPr>
          <a:xfrm>
            <a:off x="628650" y="164741"/>
            <a:ext cx="78867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37"/>
          <p:cNvSpPr txBox="1"/>
          <p:nvPr>
            <p:ph idx="11" type="ftr"/>
          </p:nvPr>
        </p:nvSpPr>
        <p:spPr>
          <a:xfrm>
            <a:off x="3028950" y="4973856"/>
            <a:ext cx="3086100" cy="1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37"/>
          <p:cNvSpPr txBox="1"/>
          <p:nvPr>
            <p:ph idx="1" type="body"/>
          </p:nvPr>
        </p:nvSpPr>
        <p:spPr>
          <a:xfrm>
            <a:off x="628650" y="822960"/>
            <a:ext cx="7886700" cy="3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3" name="Google Shape;213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" name="Google Shape;214;p37"/>
          <p:cNvSpPr txBox="1"/>
          <p:nvPr>
            <p:ph idx="10" type="dt"/>
          </p:nvPr>
        </p:nvSpPr>
        <p:spPr>
          <a:xfrm>
            <a:off x="628651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 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"/>
          <p:cNvSpPr txBox="1"/>
          <p:nvPr>
            <p:ph idx="12" type="sldNum"/>
          </p:nvPr>
        </p:nvSpPr>
        <p:spPr>
          <a:xfrm>
            <a:off x="8624858" y="483878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38"/>
          <p:cNvSpPr txBox="1"/>
          <p:nvPr/>
        </p:nvSpPr>
        <p:spPr>
          <a:xfrm>
            <a:off x="462938" y="80906"/>
            <a:ext cx="8218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 and body 1 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 txBox="1"/>
          <p:nvPr>
            <p:ph idx="12" type="sldNum"/>
          </p:nvPr>
        </p:nvSpPr>
        <p:spPr>
          <a:xfrm>
            <a:off x="8624858" y="483878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0" name="Google Shape;220;p39"/>
          <p:cNvSpPr txBox="1"/>
          <p:nvPr/>
        </p:nvSpPr>
        <p:spPr>
          <a:xfrm>
            <a:off x="462938" y="80906"/>
            <a:ext cx="8218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 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/>
          <p:nvPr/>
        </p:nvSpPr>
        <p:spPr>
          <a:xfrm>
            <a:off x="1589" y="1589"/>
            <a:ext cx="1500" cy="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5" name="Google Shape;225;p40"/>
          <p:cNvSpPr/>
          <p:nvPr/>
        </p:nvSpPr>
        <p:spPr>
          <a:xfrm>
            <a:off x="7586187" y="4978929"/>
            <a:ext cx="1338600" cy="16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0"/>
          <p:cNvSpPr txBox="1"/>
          <p:nvPr/>
        </p:nvSpPr>
        <p:spPr>
          <a:xfrm>
            <a:off x="6335730" y="4893449"/>
            <a:ext cx="268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Arial"/>
              <a:buNone/>
            </a:pPr>
            <a:fld id="{00000000-1234-1234-1234-123412341234}" type="slidenum">
              <a:rPr b="0" i="0" lang="en-GB" sz="9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0"/>
          <p:cNvSpPr txBox="1"/>
          <p:nvPr>
            <p:ph idx="12" type="sldNum"/>
          </p:nvPr>
        </p:nvSpPr>
        <p:spPr>
          <a:xfrm>
            <a:off x="8556785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>
  <p:cSld name="标题和内容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1"/>
          <p:cNvSpPr/>
          <p:nvPr/>
        </p:nvSpPr>
        <p:spPr>
          <a:xfrm>
            <a:off x="1" y="16886"/>
            <a:ext cx="7930500" cy="562800"/>
          </a:xfrm>
          <a:prstGeom prst="rect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1"/>
          <p:cNvSpPr/>
          <p:nvPr/>
        </p:nvSpPr>
        <p:spPr>
          <a:xfrm>
            <a:off x="8611559" y="16886"/>
            <a:ext cx="528300" cy="567000"/>
          </a:xfrm>
          <a:prstGeom prst="rect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1"/>
          <p:cNvSpPr/>
          <p:nvPr/>
        </p:nvSpPr>
        <p:spPr>
          <a:xfrm flipH="1" rot="10800000">
            <a:off x="2" y="5076000"/>
            <a:ext cx="9147000" cy="67500"/>
          </a:xfrm>
          <a:prstGeom prst="rect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1"/>
          <p:cNvSpPr/>
          <p:nvPr/>
        </p:nvSpPr>
        <p:spPr>
          <a:xfrm flipH="1" rot="10800000">
            <a:off x="0" y="-2256"/>
            <a:ext cx="2694300" cy="66600"/>
          </a:xfrm>
          <a:prstGeom prst="rect">
            <a:avLst/>
          </a:prstGeom>
          <a:solidFill>
            <a:srgbClr val="1655AB"/>
          </a:solidFill>
          <a:ln>
            <a:noFill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1"/>
          <p:cNvSpPr/>
          <p:nvPr/>
        </p:nvSpPr>
        <p:spPr>
          <a:xfrm flipH="1" rot="10800000">
            <a:off x="2694150" y="-2256"/>
            <a:ext cx="2694300" cy="66600"/>
          </a:xfrm>
          <a:prstGeom prst="rect">
            <a:avLst/>
          </a:prstGeom>
          <a:solidFill>
            <a:srgbClr val="26A595"/>
          </a:solidFill>
          <a:ln>
            <a:noFill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1"/>
          <p:cNvSpPr/>
          <p:nvPr/>
        </p:nvSpPr>
        <p:spPr>
          <a:xfrm flipH="1" rot="10800000">
            <a:off x="5236352" y="-1764"/>
            <a:ext cx="2694300" cy="66600"/>
          </a:xfrm>
          <a:prstGeom prst="rect">
            <a:avLst/>
          </a:prstGeom>
          <a:solidFill>
            <a:srgbClr val="EAAB37"/>
          </a:solidFill>
          <a:ln>
            <a:noFill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1"/>
          <p:cNvSpPr/>
          <p:nvPr/>
        </p:nvSpPr>
        <p:spPr>
          <a:xfrm flipH="1" rot="10800000">
            <a:off x="8611560" y="-1886"/>
            <a:ext cx="532500" cy="72900"/>
          </a:xfrm>
          <a:prstGeom prst="rect">
            <a:avLst/>
          </a:prstGeom>
          <a:solidFill>
            <a:srgbClr val="EAAB37"/>
          </a:solidFill>
          <a:ln>
            <a:noFill/>
          </a:ln>
        </p:spPr>
        <p:txBody>
          <a:bodyPr anchorCtr="0" anchor="ctr" bIns="34250" lIns="68550" spcFirstLastPara="1" rIns="685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1"/>
          <p:cNvSpPr/>
          <p:nvPr/>
        </p:nvSpPr>
        <p:spPr>
          <a:xfrm>
            <a:off x="8054504" y="64346"/>
            <a:ext cx="433056" cy="485081"/>
          </a:xfrm>
          <a:custGeom>
            <a:rect b="b" l="l" r="r" t="t"/>
            <a:pathLst>
              <a:path extrusionOk="0" h="3948" w="3522">
                <a:moveTo>
                  <a:pt x="2410" y="2955"/>
                </a:moveTo>
                <a:lnTo>
                  <a:pt x="2410" y="2955"/>
                </a:lnTo>
                <a:cubicBezTo>
                  <a:pt x="2386" y="3146"/>
                  <a:pt x="2270" y="3299"/>
                  <a:pt x="2089" y="3375"/>
                </a:cubicBezTo>
                <a:cubicBezTo>
                  <a:pt x="1989" y="3418"/>
                  <a:pt x="1854" y="3441"/>
                  <a:pt x="1748" y="3434"/>
                </a:cubicBezTo>
                <a:cubicBezTo>
                  <a:pt x="1582" y="3427"/>
                  <a:pt x="1426" y="3387"/>
                  <a:pt x="1282" y="3314"/>
                </a:cubicBezTo>
                <a:cubicBezTo>
                  <a:pt x="1230" y="3287"/>
                  <a:pt x="1153" y="3235"/>
                  <a:pt x="1096" y="3187"/>
                </a:cubicBezTo>
                <a:cubicBezTo>
                  <a:pt x="1082" y="3176"/>
                  <a:pt x="1076" y="3166"/>
                  <a:pt x="1088" y="3148"/>
                </a:cubicBezTo>
                <a:cubicBezTo>
                  <a:pt x="1102" y="3128"/>
                  <a:pt x="1155" y="3050"/>
                  <a:pt x="1164" y="3038"/>
                </a:cubicBezTo>
                <a:cubicBezTo>
                  <a:pt x="1175" y="3020"/>
                  <a:pt x="1194" y="3020"/>
                  <a:pt x="1211" y="3033"/>
                </a:cubicBezTo>
                <a:cubicBezTo>
                  <a:pt x="1213" y="3035"/>
                  <a:pt x="1231" y="3048"/>
                  <a:pt x="1234" y="3051"/>
                </a:cubicBezTo>
                <a:cubicBezTo>
                  <a:pt x="1372" y="3158"/>
                  <a:pt x="1551" y="3239"/>
                  <a:pt x="1749" y="3247"/>
                </a:cubicBezTo>
                <a:cubicBezTo>
                  <a:pt x="1999" y="3243"/>
                  <a:pt x="2180" y="3132"/>
                  <a:pt x="2213" y="2960"/>
                </a:cubicBezTo>
                <a:cubicBezTo>
                  <a:pt x="2248" y="2770"/>
                  <a:pt x="2097" y="2607"/>
                  <a:pt x="1805" y="2516"/>
                </a:cubicBezTo>
                <a:cubicBezTo>
                  <a:pt x="1712" y="2487"/>
                  <a:pt x="1479" y="2394"/>
                  <a:pt x="1435" y="2369"/>
                </a:cubicBezTo>
                <a:cubicBezTo>
                  <a:pt x="1232" y="2251"/>
                  <a:pt x="1137" y="2095"/>
                  <a:pt x="1151" y="1904"/>
                </a:cubicBezTo>
                <a:cubicBezTo>
                  <a:pt x="1172" y="1639"/>
                  <a:pt x="1419" y="1440"/>
                  <a:pt x="1733" y="1439"/>
                </a:cubicBezTo>
                <a:cubicBezTo>
                  <a:pt x="1882" y="1438"/>
                  <a:pt x="2022" y="1471"/>
                  <a:pt x="2147" y="1523"/>
                </a:cubicBezTo>
                <a:cubicBezTo>
                  <a:pt x="2193" y="1542"/>
                  <a:pt x="2278" y="1588"/>
                  <a:pt x="2308" y="1611"/>
                </a:cubicBezTo>
                <a:cubicBezTo>
                  <a:pt x="2330" y="1626"/>
                  <a:pt x="2328" y="1644"/>
                  <a:pt x="2320" y="1657"/>
                </a:cubicBezTo>
                <a:cubicBezTo>
                  <a:pt x="2307" y="1678"/>
                  <a:pt x="2270" y="1735"/>
                  <a:pt x="2255" y="1759"/>
                </a:cubicBezTo>
                <a:cubicBezTo>
                  <a:pt x="2245" y="1775"/>
                  <a:pt x="2231" y="1777"/>
                  <a:pt x="2212" y="1765"/>
                </a:cubicBezTo>
                <a:cubicBezTo>
                  <a:pt x="2051" y="1658"/>
                  <a:pt x="1886" y="1622"/>
                  <a:pt x="1737" y="1619"/>
                </a:cubicBezTo>
                <a:cubicBezTo>
                  <a:pt x="1523" y="1623"/>
                  <a:pt x="1361" y="1750"/>
                  <a:pt x="1350" y="1923"/>
                </a:cubicBezTo>
                <a:cubicBezTo>
                  <a:pt x="1348" y="2080"/>
                  <a:pt x="1468" y="2194"/>
                  <a:pt x="1722" y="2281"/>
                </a:cubicBezTo>
                <a:cubicBezTo>
                  <a:pt x="2248" y="2449"/>
                  <a:pt x="2447" y="2646"/>
                  <a:pt x="2410" y="2955"/>
                </a:cubicBezTo>
                <a:close/>
                <a:moveTo>
                  <a:pt x="1761" y="229"/>
                </a:moveTo>
                <a:lnTo>
                  <a:pt x="1761" y="229"/>
                </a:lnTo>
                <a:cubicBezTo>
                  <a:pt x="2101" y="229"/>
                  <a:pt x="2378" y="550"/>
                  <a:pt x="2391" y="952"/>
                </a:cubicBezTo>
                <a:lnTo>
                  <a:pt x="1130" y="952"/>
                </a:lnTo>
                <a:cubicBezTo>
                  <a:pt x="1143" y="550"/>
                  <a:pt x="1420" y="229"/>
                  <a:pt x="1761" y="229"/>
                </a:cubicBezTo>
                <a:close/>
                <a:moveTo>
                  <a:pt x="3053" y="3948"/>
                </a:moveTo>
                <a:lnTo>
                  <a:pt x="3053" y="3948"/>
                </a:lnTo>
                <a:cubicBezTo>
                  <a:pt x="3233" y="3944"/>
                  <a:pt x="3378" y="3798"/>
                  <a:pt x="3394" y="3618"/>
                </a:cubicBezTo>
                <a:lnTo>
                  <a:pt x="3395" y="3597"/>
                </a:lnTo>
                <a:lnTo>
                  <a:pt x="3522" y="1031"/>
                </a:lnTo>
                <a:lnTo>
                  <a:pt x="3522" y="1031"/>
                </a:lnTo>
                <a:cubicBezTo>
                  <a:pt x="3522" y="1030"/>
                  <a:pt x="3522" y="1029"/>
                  <a:pt x="3522" y="1027"/>
                </a:cubicBezTo>
                <a:cubicBezTo>
                  <a:pt x="3522" y="986"/>
                  <a:pt x="3488" y="952"/>
                  <a:pt x="3447" y="952"/>
                </a:cubicBezTo>
                <a:cubicBezTo>
                  <a:pt x="3446" y="952"/>
                  <a:pt x="3446" y="952"/>
                  <a:pt x="3445" y="952"/>
                </a:cubicBezTo>
                <a:lnTo>
                  <a:pt x="2629" y="952"/>
                </a:lnTo>
                <a:cubicBezTo>
                  <a:pt x="2609" y="422"/>
                  <a:pt x="2228" y="0"/>
                  <a:pt x="1761" y="0"/>
                </a:cubicBezTo>
                <a:cubicBezTo>
                  <a:pt x="1294" y="0"/>
                  <a:pt x="913" y="422"/>
                  <a:pt x="892" y="952"/>
                </a:cubicBezTo>
                <a:lnTo>
                  <a:pt x="74" y="952"/>
                </a:lnTo>
                <a:lnTo>
                  <a:pt x="74" y="952"/>
                </a:lnTo>
                <a:cubicBezTo>
                  <a:pt x="33" y="952"/>
                  <a:pt x="0" y="986"/>
                  <a:pt x="0" y="1027"/>
                </a:cubicBezTo>
                <a:cubicBezTo>
                  <a:pt x="0" y="1029"/>
                  <a:pt x="0" y="1031"/>
                  <a:pt x="0" y="1033"/>
                </a:cubicBezTo>
                <a:lnTo>
                  <a:pt x="0" y="1033"/>
                </a:lnTo>
                <a:lnTo>
                  <a:pt x="116" y="3588"/>
                </a:lnTo>
                <a:lnTo>
                  <a:pt x="118" y="3620"/>
                </a:lnTo>
                <a:cubicBezTo>
                  <a:pt x="135" y="3798"/>
                  <a:pt x="265" y="3941"/>
                  <a:pt x="442" y="3948"/>
                </a:cubicBezTo>
                <a:lnTo>
                  <a:pt x="442" y="3948"/>
                </a:lnTo>
                <a:lnTo>
                  <a:pt x="3040" y="3948"/>
                </a:lnTo>
                <a:lnTo>
                  <a:pt x="3053" y="3948"/>
                </a:lnTo>
                <a:close/>
              </a:path>
            </a:pathLst>
          </a:custGeom>
          <a:solidFill>
            <a:srgbClr val="EE4D2D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1"/>
          <p:cNvSpPr txBox="1"/>
          <p:nvPr>
            <p:ph idx="12" type="sldNum"/>
          </p:nvPr>
        </p:nvSpPr>
        <p:spPr>
          <a:xfrm>
            <a:off x="8556785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">
  <p:cSld name="Title and body 1 2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2"/>
          <p:cNvSpPr txBox="1"/>
          <p:nvPr>
            <p:ph idx="12" type="sldNum"/>
          </p:nvPr>
        </p:nvSpPr>
        <p:spPr>
          <a:xfrm>
            <a:off x="8624858" y="483878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1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0" name="Google Shape;240;p42"/>
          <p:cNvSpPr txBox="1"/>
          <p:nvPr/>
        </p:nvSpPr>
        <p:spPr>
          <a:xfrm>
            <a:off x="462938" y="80906"/>
            <a:ext cx="8218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2"/>
          <p:cNvSpPr txBox="1"/>
          <p:nvPr>
            <p:ph type="title"/>
          </p:nvPr>
        </p:nvSpPr>
        <p:spPr>
          <a:xfrm>
            <a:off x="462938" y="80906"/>
            <a:ext cx="8218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2" name="Google Shape;242;p42"/>
          <p:cNvSpPr txBox="1"/>
          <p:nvPr/>
        </p:nvSpPr>
        <p:spPr>
          <a:xfrm>
            <a:off x="1311830" y="4811315"/>
            <a:ext cx="6663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00" lIns="67450" spcFirstLastPara="1" rIns="67450" wrap="square" tIns="4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/>
              <a:buNone/>
            </a:pPr>
            <a:r>
              <a:rPr b="0" i="0" lang="en-GB" sz="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showMasterSp="0">
  <p:cSld name="Conten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Google Shape;244;p43"/>
          <p:cNvCxnSpPr/>
          <p:nvPr/>
        </p:nvCxnSpPr>
        <p:spPr>
          <a:xfrm>
            <a:off x="716643" y="589179"/>
            <a:ext cx="8166300" cy="0"/>
          </a:xfrm>
          <a:prstGeom prst="straightConnector1">
            <a:avLst/>
          </a:prstGeom>
          <a:noFill/>
          <a:ln cap="flat" cmpd="sng" w="254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43"/>
          <p:cNvSpPr txBox="1"/>
          <p:nvPr/>
        </p:nvSpPr>
        <p:spPr>
          <a:xfrm>
            <a:off x="3883420" y="4723812"/>
            <a:ext cx="1383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opee-logo-en.png" id="246" name="Google Shape;246;p43"/>
          <p:cNvPicPr preferRelativeResize="0"/>
          <p:nvPr/>
        </p:nvPicPr>
        <p:blipFill rotWithShape="1">
          <a:blip r:embed="rId2">
            <a:alphaModFix/>
          </a:blip>
          <a:srcRect b="0" l="0" r="71131" t="0"/>
          <a:stretch/>
        </p:blipFill>
        <p:spPr>
          <a:xfrm>
            <a:off x="308305" y="247186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3"/>
          <p:cNvSpPr txBox="1"/>
          <p:nvPr/>
        </p:nvSpPr>
        <p:spPr>
          <a:xfrm>
            <a:off x="2061601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25" lIns="68525" spcFirstLastPara="1" rIns="68525" wrap="square" tIns="68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None/>
            </a:pPr>
            <a:r>
              <a:rPr b="0" i="0" lang="en-GB" sz="75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3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GB" sz="75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19275" lIns="38575" spcFirstLastPara="1" rIns="38575" wrap="square" tIns="19275">
            <a:noAutofit/>
          </a:bodyPr>
          <a:lstStyle>
            <a:lvl1pPr lvl="0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buNone/>
              <a:defRPr sz="13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omparison(Bullets)" showMasterSp="0">
  <p:cSld name="5_Comparison(Bullets)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4"/>
          <p:cNvSpPr txBox="1"/>
          <p:nvPr>
            <p:ph idx="1" type="body"/>
          </p:nvPr>
        </p:nvSpPr>
        <p:spPr>
          <a:xfrm>
            <a:off x="710816" y="927084"/>
            <a:ext cx="3233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2000"/>
              <a:buFont typeface="Arial"/>
              <a:buNone/>
              <a:defRPr b="1" i="0" sz="1500" u="none" cap="none" strike="noStrike">
                <a:solidFill>
                  <a:srgbClr val="EE4D2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2000"/>
              <a:buFont typeface="Arial"/>
              <a:buNone/>
              <a:defRPr b="1" i="0" sz="1500" u="none" cap="none" strike="noStrike">
                <a:solidFill>
                  <a:srgbClr val="EE4D2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2000"/>
              <a:buFont typeface="Arial"/>
              <a:buNone/>
              <a:defRPr b="1" i="0" sz="1500" u="none" cap="none" strike="noStrike">
                <a:solidFill>
                  <a:srgbClr val="EE4D2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2000"/>
              <a:buFont typeface="Arial"/>
              <a:buNone/>
              <a:defRPr b="1" i="0" sz="1500" u="none" cap="none" strike="noStrike">
                <a:solidFill>
                  <a:srgbClr val="EE4D2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2000"/>
              <a:buFont typeface="Arial"/>
              <a:buNone/>
              <a:defRPr b="1" i="0" sz="1500" u="none" cap="none" strike="noStrike">
                <a:solidFill>
                  <a:srgbClr val="EE4D2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2" name="Google Shape;252;p44"/>
          <p:cNvSpPr txBox="1"/>
          <p:nvPr>
            <p:ph idx="2" type="body"/>
          </p:nvPr>
        </p:nvSpPr>
        <p:spPr>
          <a:xfrm>
            <a:off x="4973507" y="927084"/>
            <a:ext cx="3249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o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3" name="Google Shape;253;p44"/>
          <p:cNvSpPr txBox="1"/>
          <p:nvPr>
            <p:ph type="title"/>
          </p:nvPr>
        </p:nvSpPr>
        <p:spPr>
          <a:xfrm>
            <a:off x="661989" y="157957"/>
            <a:ext cx="80583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68550" spcFirstLastPara="1" rIns="68550" wrap="square" tIns="6855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54" name="Google Shape;254;p44"/>
          <p:cNvCxnSpPr/>
          <p:nvPr/>
        </p:nvCxnSpPr>
        <p:spPr>
          <a:xfrm>
            <a:off x="716643" y="589179"/>
            <a:ext cx="8166300" cy="0"/>
          </a:xfrm>
          <a:prstGeom prst="straightConnector1">
            <a:avLst/>
          </a:prstGeom>
          <a:noFill/>
          <a:ln cap="flat" cmpd="sng" w="254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shopee-logo-en.png" id="255" name="Google Shape;255;p44"/>
          <p:cNvPicPr preferRelativeResize="0"/>
          <p:nvPr/>
        </p:nvPicPr>
        <p:blipFill rotWithShape="1">
          <a:blip r:embed="rId2">
            <a:alphaModFix/>
          </a:blip>
          <a:srcRect b="0" l="0" r="71131" t="0"/>
          <a:stretch/>
        </p:blipFill>
        <p:spPr>
          <a:xfrm>
            <a:off x="308305" y="247186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4"/>
          <p:cNvSpPr txBox="1"/>
          <p:nvPr/>
        </p:nvSpPr>
        <p:spPr>
          <a:xfrm>
            <a:off x="2061601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25" lIns="68525" spcFirstLastPara="1" rIns="68525" wrap="square" tIns="68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None/>
            </a:pPr>
            <a:r>
              <a:rPr b="0" i="0" lang="en-GB" sz="75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44"/>
          <p:cNvGrpSpPr/>
          <p:nvPr/>
        </p:nvGrpSpPr>
        <p:grpSpPr>
          <a:xfrm>
            <a:off x="-4" y="-523817"/>
            <a:ext cx="3114638" cy="446467"/>
            <a:chOff x="960935" y="1642107"/>
            <a:chExt cx="7354517" cy="1791603"/>
          </a:xfrm>
        </p:grpSpPr>
        <p:sp>
          <p:nvSpPr>
            <p:cNvPr id="258" name="Google Shape;258;p44"/>
            <p:cNvSpPr/>
            <p:nvPr/>
          </p:nvSpPr>
          <p:spPr>
            <a:xfrm>
              <a:off x="960935" y="1642110"/>
              <a:ext cx="2412600" cy="1791600"/>
            </a:xfrm>
            <a:prstGeom prst="rect">
              <a:avLst/>
            </a:prstGeom>
            <a:solidFill>
              <a:srgbClr val="ED4D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50" u="none" cap="none" strike="noStrike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#ED4D2D</a:t>
              </a:r>
              <a:endParaRPr b="1" i="0" sz="105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59" name="Google Shape;259;p44"/>
            <p:cNvSpPr/>
            <p:nvPr/>
          </p:nvSpPr>
          <p:spPr>
            <a:xfrm>
              <a:off x="3436889" y="1642107"/>
              <a:ext cx="1584000" cy="1120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788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#ED7D31</a:t>
              </a:r>
              <a:endParaRPr b="1" i="0" sz="78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4"/>
            <p:cNvSpPr/>
            <p:nvPr/>
          </p:nvSpPr>
          <p:spPr>
            <a:xfrm>
              <a:off x="5084166" y="1642109"/>
              <a:ext cx="1584000" cy="1120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788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#FFC000</a:t>
              </a:r>
              <a:endParaRPr b="1" i="0" sz="78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4"/>
            <p:cNvSpPr/>
            <p:nvPr/>
          </p:nvSpPr>
          <p:spPr>
            <a:xfrm>
              <a:off x="6731452" y="1642109"/>
              <a:ext cx="1584000" cy="1120200"/>
            </a:xfrm>
            <a:prstGeom prst="rect">
              <a:avLst/>
            </a:prstGeom>
            <a:solidFill>
              <a:srgbClr val="CACAC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788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#CACACA</a:t>
              </a:r>
              <a:endParaRPr b="1" i="0" sz="78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4"/>
            <p:cNvSpPr/>
            <p:nvPr/>
          </p:nvSpPr>
          <p:spPr>
            <a:xfrm>
              <a:off x="3436889" y="3149510"/>
              <a:ext cx="1584000" cy="284100"/>
            </a:xfrm>
            <a:prstGeom prst="rect">
              <a:avLst/>
            </a:prstGeom>
            <a:solidFill>
              <a:srgbClr val="FBE5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788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#FBE5D6</a:t>
              </a:r>
              <a:endParaRPr b="1" i="0" sz="788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4"/>
            <p:cNvSpPr/>
            <p:nvPr/>
          </p:nvSpPr>
          <p:spPr>
            <a:xfrm>
              <a:off x="5084166" y="3149510"/>
              <a:ext cx="1584000" cy="284100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788" u="none" cap="none" strike="noStrike">
                  <a:solidFill>
                    <a:schemeClr val="accent4"/>
                  </a:solidFill>
                  <a:latin typeface="Arial"/>
                  <a:ea typeface="Arial"/>
                  <a:cs typeface="Arial"/>
                  <a:sym typeface="Arial"/>
                </a:rPr>
                <a:t>#FFF2CC</a:t>
              </a:r>
              <a:endParaRPr b="1" i="0" sz="788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4"/>
            <p:cNvSpPr/>
            <p:nvPr/>
          </p:nvSpPr>
          <p:spPr>
            <a:xfrm>
              <a:off x="6731452" y="3149510"/>
              <a:ext cx="1584000" cy="284100"/>
            </a:xfrm>
            <a:prstGeom prst="rect">
              <a:avLst/>
            </a:prstGeom>
            <a:solidFill>
              <a:srgbClr val="D5DB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788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#EDEDED</a:t>
              </a:r>
              <a:endParaRPr b="1" i="0" sz="788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4"/>
            <p:cNvSpPr/>
            <p:nvPr/>
          </p:nvSpPr>
          <p:spPr>
            <a:xfrm>
              <a:off x="3436889" y="2810555"/>
              <a:ext cx="1584000" cy="284100"/>
            </a:xfrm>
            <a:prstGeom prst="rect">
              <a:avLst/>
            </a:prstGeom>
            <a:solidFill>
              <a:srgbClr val="F8CBA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788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#F8CBAD</a:t>
              </a:r>
              <a:endParaRPr b="1" i="0" sz="788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4"/>
            <p:cNvSpPr/>
            <p:nvPr/>
          </p:nvSpPr>
          <p:spPr>
            <a:xfrm>
              <a:off x="5084166" y="2810555"/>
              <a:ext cx="1584000" cy="28410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788" u="none" cap="none" strike="noStrike">
                  <a:solidFill>
                    <a:schemeClr val="accent4"/>
                  </a:solidFill>
                  <a:latin typeface="Arial"/>
                  <a:ea typeface="Arial"/>
                  <a:cs typeface="Arial"/>
                  <a:sym typeface="Arial"/>
                </a:rPr>
                <a:t>#FFE699</a:t>
              </a:r>
              <a:endParaRPr b="1" i="0" sz="788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4"/>
            <p:cNvSpPr/>
            <p:nvPr/>
          </p:nvSpPr>
          <p:spPr>
            <a:xfrm>
              <a:off x="6731452" y="2810555"/>
              <a:ext cx="1584000" cy="284100"/>
            </a:xfrm>
            <a:prstGeom prst="rect">
              <a:avLst/>
            </a:prstGeom>
            <a:solidFill>
              <a:srgbClr val="ACB8C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788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#DCDCDC</a:t>
              </a:r>
              <a:endParaRPr b="1" i="0" sz="788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" name="Google Shape;268;p44"/>
          <p:cNvSpPr txBox="1"/>
          <p:nvPr>
            <p:ph idx="12" type="sldNum"/>
          </p:nvPr>
        </p:nvSpPr>
        <p:spPr>
          <a:xfrm>
            <a:off x="8594308" y="4928416"/>
            <a:ext cx="4947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ndard header only 1 1">
  <p:cSld name="2_Standard header only 1 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/>
          <p:nvPr>
            <p:ph type="title"/>
          </p:nvPr>
        </p:nvSpPr>
        <p:spPr>
          <a:xfrm>
            <a:off x="533180" y="89320"/>
            <a:ext cx="807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000" lIns="35000" spcFirstLastPara="1" rIns="35000" wrap="square" tIns="350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45"/>
          <p:cNvSpPr txBox="1"/>
          <p:nvPr>
            <p:ph idx="1" type="body"/>
          </p:nvPr>
        </p:nvSpPr>
        <p:spPr>
          <a:xfrm>
            <a:off x="533180" y="933253"/>
            <a:ext cx="80775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3325" lIns="46650" spcFirstLastPara="1" rIns="46650" wrap="square" tIns="233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2" name="Google Shape;272;p45"/>
          <p:cNvSpPr txBox="1"/>
          <p:nvPr>
            <p:ph idx="12" type="sldNum"/>
          </p:nvPr>
        </p:nvSpPr>
        <p:spPr>
          <a:xfrm>
            <a:off x="8556784" y="4802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25" lIns="26250" spcFirstLastPara="1" rIns="26250" wrap="square" tIns="13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6"/>
          <p:cNvSpPr txBox="1"/>
          <p:nvPr>
            <p:ph type="title"/>
          </p:nvPr>
        </p:nvSpPr>
        <p:spPr>
          <a:xfrm>
            <a:off x="534601" y="89100"/>
            <a:ext cx="80784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5" name="Google Shape;275;p46"/>
          <p:cNvSpPr txBox="1"/>
          <p:nvPr>
            <p:ph idx="1" type="body"/>
          </p:nvPr>
        </p:nvSpPr>
        <p:spPr>
          <a:xfrm>
            <a:off x="534601" y="816103"/>
            <a:ext cx="8078400" cy="3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●"/>
              <a:defRPr b="0" i="0" sz="14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algn="l">
              <a:lnSpc>
                <a:spcPct val="90000"/>
              </a:lnSpc>
              <a:spcBef>
                <a:spcPts val="401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○"/>
              <a:defRPr b="0" i="0" sz="12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401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Char char="■"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lnSpc>
                <a:spcPct val="90000"/>
              </a:lnSpc>
              <a:spcBef>
                <a:spcPts val="401"/>
              </a:spcBef>
              <a:spcAft>
                <a:spcPts val="0"/>
              </a:spcAft>
              <a:buClr>
                <a:srgbClr val="3F3F3F"/>
              </a:buClr>
              <a:buSzPts val="900"/>
              <a:buFont typeface="Arial"/>
              <a:buChar char="●"/>
              <a:defRPr b="0" i="0" sz="9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401"/>
              </a:spcBef>
              <a:spcAft>
                <a:spcPts val="0"/>
              </a:spcAft>
              <a:buClr>
                <a:srgbClr val="3F3F3F"/>
              </a:buClr>
              <a:buSzPts val="900"/>
              <a:buFont typeface="Arial"/>
              <a:buChar char="○"/>
              <a:defRPr b="0" i="0" sz="9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6" name="Google Shape;276;p46"/>
          <p:cNvSpPr txBox="1"/>
          <p:nvPr>
            <p:ph idx="10" type="dt"/>
          </p:nvPr>
        </p:nvSpPr>
        <p:spPr>
          <a:xfrm>
            <a:off x="534601" y="4857314"/>
            <a:ext cx="2057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7" name="Google Shape;277;p46"/>
          <p:cNvSpPr txBox="1"/>
          <p:nvPr>
            <p:ph idx="11" type="ftr"/>
          </p:nvPr>
        </p:nvSpPr>
        <p:spPr>
          <a:xfrm>
            <a:off x="3028950" y="4857314"/>
            <a:ext cx="30861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8" name="Google Shape;278;p46"/>
          <p:cNvSpPr txBox="1"/>
          <p:nvPr>
            <p:ph idx="12" type="sldNum"/>
          </p:nvPr>
        </p:nvSpPr>
        <p:spPr>
          <a:xfrm>
            <a:off x="6555600" y="4857314"/>
            <a:ext cx="2057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79" name="Google Shape;279;p46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0" name="Google Shape;280;p46"/>
          <p:cNvCxnSpPr/>
          <p:nvPr/>
        </p:nvCxnSpPr>
        <p:spPr>
          <a:xfrm>
            <a:off x="2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46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25" lIns="28900" spcFirstLastPara="1" rIns="28900" wrap="square" tIns="14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ndard header only">
  <p:cSld name="Content page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47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47"/>
          <p:cNvCxnSpPr/>
          <p:nvPr/>
        </p:nvCxnSpPr>
        <p:spPr>
          <a:xfrm>
            <a:off x="1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47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7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7" name="Google Shape;287;p47"/>
          <p:cNvSpPr txBox="1"/>
          <p:nvPr>
            <p:ph idx="12" type="sldNum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8" name="Google Shape;288;p47"/>
          <p:cNvSpPr txBox="1"/>
          <p:nvPr>
            <p:ph idx="1" type="body"/>
          </p:nvPr>
        </p:nvSpPr>
        <p:spPr>
          <a:xfrm>
            <a:off x="533180" y="933253"/>
            <a:ext cx="80778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9" name="Google Shape;289;p47"/>
          <p:cNvSpPr txBox="1"/>
          <p:nvPr/>
        </p:nvSpPr>
        <p:spPr>
          <a:xfrm>
            <a:off x="1311830" y="4811314"/>
            <a:ext cx="6663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25" lIns="67475" spcFirstLastPara="1" rIns="67475" wrap="square" tIns="410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/>
              <a:buNone/>
            </a:pPr>
            <a:r>
              <a:rPr b="0" i="0" lang="en-GB" sz="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3">
  <p:cSld name="TITLE_AND_BODY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8"/>
          <p:cNvSpPr txBox="1"/>
          <p:nvPr>
            <p:ph idx="12" type="sldNum"/>
          </p:nvPr>
        </p:nvSpPr>
        <p:spPr>
          <a:xfrm>
            <a:off x="8624858" y="483878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2" name="Google Shape;292;p48"/>
          <p:cNvSpPr txBox="1"/>
          <p:nvPr/>
        </p:nvSpPr>
        <p:spPr>
          <a:xfrm>
            <a:off x="462938" y="80905"/>
            <a:ext cx="8218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8"/>
          <p:cNvSpPr txBox="1"/>
          <p:nvPr>
            <p:ph type="title"/>
          </p:nvPr>
        </p:nvSpPr>
        <p:spPr>
          <a:xfrm>
            <a:off x="462938" y="80905"/>
            <a:ext cx="8218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rgbClr val="000000"/>
                </a:solidFill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4" name="Google Shape;294;p48"/>
          <p:cNvSpPr txBox="1"/>
          <p:nvPr/>
        </p:nvSpPr>
        <p:spPr>
          <a:xfrm>
            <a:off x="1311830" y="4811314"/>
            <a:ext cx="6663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25" lIns="67475" spcFirstLastPara="1" rIns="67475" wrap="square" tIns="410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/>
              <a:buNone/>
            </a:pPr>
            <a:r>
              <a:rPr b="0" i="0" lang="en-GB" sz="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 showMasterSp="0">
  <p:cSld name="TITLE_AND_BODY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9"/>
          <p:cNvSpPr txBox="1"/>
          <p:nvPr>
            <p:ph idx="12" type="sldNum"/>
          </p:nvPr>
        </p:nvSpPr>
        <p:spPr>
          <a:xfrm>
            <a:off x="8835380" y="4874311"/>
            <a:ext cx="3381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900">
              <a:solidFill>
                <a:srgbClr val="999999"/>
              </a:solidFill>
            </a:endParaRPr>
          </a:p>
        </p:txBody>
      </p:sp>
      <p:cxnSp>
        <p:nvCxnSpPr>
          <p:cNvPr id="297" name="Google Shape;297;p49"/>
          <p:cNvCxnSpPr/>
          <p:nvPr/>
        </p:nvCxnSpPr>
        <p:spPr>
          <a:xfrm>
            <a:off x="554159" y="441986"/>
            <a:ext cx="8418000" cy="0"/>
          </a:xfrm>
          <a:prstGeom prst="straightConnector1">
            <a:avLst/>
          </a:prstGeom>
          <a:noFill/>
          <a:ln cap="flat" cmpd="sng" w="38100">
            <a:solidFill>
              <a:srgbClr val="ED4D2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shopee-logo-en.png" id="298" name="Google Shape;298;p49"/>
          <p:cNvPicPr preferRelativeResize="0"/>
          <p:nvPr/>
        </p:nvPicPr>
        <p:blipFill rotWithShape="1">
          <a:blip r:embed="rId2">
            <a:alphaModFix/>
          </a:blip>
          <a:srcRect b="0" l="0" r="71130" t="0"/>
          <a:stretch/>
        </p:blipFill>
        <p:spPr>
          <a:xfrm>
            <a:off x="166621" y="111716"/>
            <a:ext cx="336999" cy="369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ndard header only 2 2 2 1">
  <p:cSld name="2_Standard header only_4_1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50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50"/>
          <p:cNvCxnSpPr/>
          <p:nvPr/>
        </p:nvCxnSpPr>
        <p:spPr>
          <a:xfrm>
            <a:off x="1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50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0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4" name="Google Shape;304;p50"/>
          <p:cNvSpPr txBox="1"/>
          <p:nvPr>
            <p:ph idx="12" type="sldNum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5" name="Google Shape;305;p50"/>
          <p:cNvSpPr txBox="1"/>
          <p:nvPr>
            <p:ph idx="1" type="body"/>
          </p:nvPr>
        </p:nvSpPr>
        <p:spPr>
          <a:xfrm>
            <a:off x="533180" y="933253"/>
            <a:ext cx="80778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6" name="Google Shape;306;p50"/>
          <p:cNvSpPr txBox="1"/>
          <p:nvPr/>
        </p:nvSpPr>
        <p:spPr>
          <a:xfrm>
            <a:off x="1311830" y="4811314"/>
            <a:ext cx="6663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25" lIns="67475" spcFirstLastPara="1" rIns="67475" wrap="square" tIns="410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/>
              <a:buNone/>
            </a:pPr>
            <a:r>
              <a:rPr b="0" i="0" lang="en-GB" sz="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3 1">
  <p:cSld name="CUSTOM">
    <p:bg>
      <p:bgPr>
        <a:solidFill>
          <a:srgbClr val="EE4D2D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1"/>
          <p:cNvSpPr txBox="1"/>
          <p:nvPr>
            <p:ph type="ctrTitle"/>
          </p:nvPr>
        </p:nvSpPr>
        <p:spPr>
          <a:xfrm>
            <a:off x="1143000" y="2042250"/>
            <a:ext cx="6858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" name="Google Shape;30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19275" lIns="38575" spcFirstLastPara="1" rIns="38575" wrap="square" tIns="19275">
            <a:no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938" y="614753"/>
            <a:ext cx="991689" cy="140416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2"/>
          <p:cNvSpPr txBox="1"/>
          <p:nvPr>
            <p:ph type="ctrTitle"/>
          </p:nvPr>
        </p:nvSpPr>
        <p:spPr>
          <a:xfrm>
            <a:off x="1143000" y="2156378"/>
            <a:ext cx="6858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3" name="Google Shape;313;p52"/>
          <p:cNvSpPr txBox="1"/>
          <p:nvPr>
            <p:ph idx="1" type="subTitle"/>
          </p:nvPr>
        </p:nvSpPr>
        <p:spPr>
          <a:xfrm>
            <a:off x="1143000" y="3215551"/>
            <a:ext cx="6858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DBDBD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4" name="Google Shape;314;p52"/>
          <p:cNvSpPr txBox="1"/>
          <p:nvPr>
            <p:ph idx="10" type="dt"/>
          </p:nvPr>
        </p:nvSpPr>
        <p:spPr>
          <a:xfrm>
            <a:off x="433209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5" name="Google Shape;315;p5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6" name="Google Shape;316;p52"/>
          <p:cNvSpPr txBox="1"/>
          <p:nvPr>
            <p:ph idx="12" type="sldNum"/>
          </p:nvPr>
        </p:nvSpPr>
        <p:spPr>
          <a:xfrm>
            <a:off x="66865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7" name="Google Shape;317;p52"/>
          <p:cNvSpPr txBox="1"/>
          <p:nvPr/>
        </p:nvSpPr>
        <p:spPr>
          <a:xfrm>
            <a:off x="0" y="4328516"/>
            <a:ext cx="9144000" cy="843600"/>
          </a:xfrm>
          <a:prstGeom prst="rect">
            <a:avLst/>
          </a:prstGeom>
          <a:solidFill>
            <a:srgbClr val="EE4D2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>
  <p:cSld name="2_Title and Content_5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20" name="Google Shape;320;p53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1" name="Google Shape;321;p53"/>
          <p:cNvCxnSpPr/>
          <p:nvPr/>
        </p:nvCxnSpPr>
        <p:spPr>
          <a:xfrm>
            <a:off x="1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53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3" name="Google Shape;323;p53"/>
          <p:cNvSpPr txBox="1"/>
          <p:nvPr>
            <p:ph idx="1" type="body"/>
          </p:nvPr>
        </p:nvSpPr>
        <p:spPr>
          <a:xfrm>
            <a:off x="552450" y="1306499"/>
            <a:ext cx="8058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4" name="Google Shape;324;p53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_6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4"/>
          <p:cNvSpPr txBox="1"/>
          <p:nvPr>
            <p:ph idx="11" type="ftr"/>
          </p:nvPr>
        </p:nvSpPr>
        <p:spPr>
          <a:xfrm>
            <a:off x="3028981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27" name="Google Shape;327;p54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9" y="128897"/>
            <a:ext cx="318852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8" name="Google Shape;328;p54"/>
          <p:cNvCxnSpPr/>
          <p:nvPr/>
        </p:nvCxnSpPr>
        <p:spPr>
          <a:xfrm>
            <a:off x="1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54"/>
          <p:cNvSpPr txBox="1"/>
          <p:nvPr>
            <p:ph type="title"/>
          </p:nvPr>
        </p:nvSpPr>
        <p:spPr>
          <a:xfrm>
            <a:off x="552456" y="76200"/>
            <a:ext cx="80583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0" name="Google Shape;330;p54"/>
          <p:cNvSpPr txBox="1"/>
          <p:nvPr>
            <p:ph idx="1" type="body"/>
          </p:nvPr>
        </p:nvSpPr>
        <p:spPr>
          <a:xfrm>
            <a:off x="552456" y="985967"/>
            <a:ext cx="8058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1" name="Google Shape;331;p54"/>
          <p:cNvSpPr txBox="1"/>
          <p:nvPr>
            <p:ph idx="12" type="sldNum"/>
          </p:nvPr>
        </p:nvSpPr>
        <p:spPr>
          <a:xfrm>
            <a:off x="8421298" y="4767263"/>
            <a:ext cx="57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 1">
  <p:cSld name="2_Title and Content_7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4" name="Google Shape;334;p55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55"/>
          <p:cNvCxnSpPr/>
          <p:nvPr/>
        </p:nvCxnSpPr>
        <p:spPr>
          <a:xfrm>
            <a:off x="1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55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37" name="Google Shape;337;p55"/>
          <p:cNvSpPr txBox="1"/>
          <p:nvPr>
            <p:ph idx="1" type="body"/>
          </p:nvPr>
        </p:nvSpPr>
        <p:spPr>
          <a:xfrm>
            <a:off x="552450" y="985967"/>
            <a:ext cx="8058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338" name="Google Shape;338;p55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ndard header only 4">
  <p:cSld name="Content page_33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56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1" name="Google Shape;341;p56"/>
          <p:cNvCxnSpPr/>
          <p:nvPr/>
        </p:nvCxnSpPr>
        <p:spPr>
          <a:xfrm>
            <a:off x="1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56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56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4" name="Google Shape;344;p56"/>
          <p:cNvSpPr txBox="1"/>
          <p:nvPr>
            <p:ph idx="12" type="sldNum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5" name="Google Shape;345;p56"/>
          <p:cNvSpPr txBox="1"/>
          <p:nvPr>
            <p:ph idx="1" type="body"/>
          </p:nvPr>
        </p:nvSpPr>
        <p:spPr>
          <a:xfrm>
            <a:off x="533180" y="933253"/>
            <a:ext cx="80778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6" name="Google Shape;346;p56"/>
          <p:cNvSpPr txBox="1"/>
          <p:nvPr/>
        </p:nvSpPr>
        <p:spPr>
          <a:xfrm>
            <a:off x="1311830" y="4811314"/>
            <a:ext cx="6663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25" lIns="67475" spcFirstLastPara="1" rIns="67475" wrap="square" tIns="410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/>
              <a:buNone/>
            </a:pPr>
            <a:r>
              <a:rPr b="0" i="0" lang="en-GB" sz="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ndard header only 3">
  <p:cSld name="Content page_29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57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9" y="128897"/>
            <a:ext cx="318852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9" name="Google Shape;349;p57"/>
          <p:cNvCxnSpPr/>
          <p:nvPr/>
        </p:nvCxnSpPr>
        <p:spPr>
          <a:xfrm>
            <a:off x="1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57"/>
          <p:cNvSpPr/>
          <p:nvPr/>
        </p:nvSpPr>
        <p:spPr>
          <a:xfrm>
            <a:off x="8919983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57"/>
          <p:cNvSpPr txBox="1"/>
          <p:nvPr>
            <p:ph type="title"/>
          </p:nvPr>
        </p:nvSpPr>
        <p:spPr>
          <a:xfrm>
            <a:off x="533186" y="89320"/>
            <a:ext cx="8077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2" name="Google Shape;352;p57"/>
          <p:cNvSpPr txBox="1"/>
          <p:nvPr>
            <p:ph idx="12" type="sldNum"/>
          </p:nvPr>
        </p:nvSpPr>
        <p:spPr>
          <a:xfrm>
            <a:off x="6946802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3" name="Google Shape;353;p57"/>
          <p:cNvSpPr txBox="1"/>
          <p:nvPr>
            <p:ph idx="1" type="body"/>
          </p:nvPr>
        </p:nvSpPr>
        <p:spPr>
          <a:xfrm>
            <a:off x="533185" y="933253"/>
            <a:ext cx="80778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4" name="Google Shape;354;p57"/>
          <p:cNvSpPr txBox="1"/>
          <p:nvPr/>
        </p:nvSpPr>
        <p:spPr>
          <a:xfrm>
            <a:off x="1311843" y="4811314"/>
            <a:ext cx="666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25" lIns="67475" spcFirstLastPara="1" rIns="67475" wrap="square" tIns="410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/>
              <a:buNone/>
            </a:pPr>
            <a:r>
              <a:rPr b="0" i="0" lang="en-GB" sz="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 1">
  <p:cSld name="标题和内容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8"/>
          <p:cNvSpPr txBox="1"/>
          <p:nvPr>
            <p:ph type="title"/>
          </p:nvPr>
        </p:nvSpPr>
        <p:spPr>
          <a:xfrm>
            <a:off x="628649" y="192358"/>
            <a:ext cx="8144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7" name="Google Shape;357;p58"/>
          <p:cNvSpPr txBox="1"/>
          <p:nvPr>
            <p:ph idx="1" type="body"/>
          </p:nvPr>
        </p:nvSpPr>
        <p:spPr>
          <a:xfrm>
            <a:off x="628650" y="894886"/>
            <a:ext cx="814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8" name="Google Shape;358;p5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9" name="Google Shape;359;p58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ndard header only 1 3">
  <p:cSld name="Content page_30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59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9" y="128897"/>
            <a:ext cx="318852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2" name="Google Shape;362;p59"/>
          <p:cNvCxnSpPr/>
          <p:nvPr/>
        </p:nvCxnSpPr>
        <p:spPr>
          <a:xfrm>
            <a:off x="1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59"/>
          <p:cNvSpPr/>
          <p:nvPr/>
        </p:nvSpPr>
        <p:spPr>
          <a:xfrm>
            <a:off x="8919983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59"/>
          <p:cNvSpPr txBox="1"/>
          <p:nvPr>
            <p:ph type="title"/>
          </p:nvPr>
        </p:nvSpPr>
        <p:spPr>
          <a:xfrm>
            <a:off x="533186" y="89320"/>
            <a:ext cx="8077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5" name="Google Shape;365;p59"/>
          <p:cNvSpPr txBox="1"/>
          <p:nvPr>
            <p:ph idx="12" type="sldNum"/>
          </p:nvPr>
        </p:nvSpPr>
        <p:spPr>
          <a:xfrm>
            <a:off x="6946802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6" name="Google Shape;366;p59"/>
          <p:cNvSpPr txBox="1"/>
          <p:nvPr>
            <p:ph idx="1" type="body"/>
          </p:nvPr>
        </p:nvSpPr>
        <p:spPr>
          <a:xfrm>
            <a:off x="533185" y="933253"/>
            <a:ext cx="80778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7" name="Google Shape;367;p59"/>
          <p:cNvSpPr txBox="1"/>
          <p:nvPr/>
        </p:nvSpPr>
        <p:spPr>
          <a:xfrm>
            <a:off x="1311843" y="4811314"/>
            <a:ext cx="666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25" lIns="67475" spcFirstLastPara="1" rIns="67475" wrap="square" tIns="410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/>
              <a:buNone/>
            </a:pPr>
            <a:r>
              <a:rPr b="0" i="0" lang="en-GB" sz="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ndard header only 2 1">
  <p:cSld name="Content page_31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60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9" y="128897"/>
            <a:ext cx="318852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0" name="Google Shape;370;p60"/>
          <p:cNvCxnSpPr/>
          <p:nvPr/>
        </p:nvCxnSpPr>
        <p:spPr>
          <a:xfrm>
            <a:off x="1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60"/>
          <p:cNvSpPr/>
          <p:nvPr/>
        </p:nvSpPr>
        <p:spPr>
          <a:xfrm>
            <a:off x="8919983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60"/>
          <p:cNvSpPr txBox="1"/>
          <p:nvPr>
            <p:ph type="title"/>
          </p:nvPr>
        </p:nvSpPr>
        <p:spPr>
          <a:xfrm>
            <a:off x="533186" y="89320"/>
            <a:ext cx="8077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3" name="Google Shape;373;p60"/>
          <p:cNvSpPr txBox="1"/>
          <p:nvPr>
            <p:ph idx="12" type="sldNum"/>
          </p:nvPr>
        </p:nvSpPr>
        <p:spPr>
          <a:xfrm>
            <a:off x="6946802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4" name="Google Shape;374;p60"/>
          <p:cNvSpPr txBox="1"/>
          <p:nvPr>
            <p:ph idx="1" type="body"/>
          </p:nvPr>
        </p:nvSpPr>
        <p:spPr>
          <a:xfrm>
            <a:off x="533185" y="933253"/>
            <a:ext cx="80778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5" name="Google Shape;375;p60"/>
          <p:cNvSpPr txBox="1"/>
          <p:nvPr/>
        </p:nvSpPr>
        <p:spPr>
          <a:xfrm>
            <a:off x="1311843" y="4811314"/>
            <a:ext cx="6663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25" lIns="67475" spcFirstLastPara="1" rIns="67475" wrap="square" tIns="410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/>
              <a:buNone/>
            </a:pPr>
            <a:r>
              <a:rPr b="0" i="0" lang="en-GB" sz="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 2">
  <p:cSld name="标题和内容_2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1"/>
          <p:cNvSpPr txBox="1"/>
          <p:nvPr>
            <p:ph type="title"/>
          </p:nvPr>
        </p:nvSpPr>
        <p:spPr>
          <a:xfrm>
            <a:off x="628649" y="192358"/>
            <a:ext cx="8144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8" name="Google Shape;378;p61"/>
          <p:cNvSpPr txBox="1"/>
          <p:nvPr>
            <p:ph idx="1" type="body"/>
          </p:nvPr>
        </p:nvSpPr>
        <p:spPr>
          <a:xfrm>
            <a:off x="628650" y="894886"/>
            <a:ext cx="814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9" name="Google Shape;379;p6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0" name="Google Shape;380;p61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2"/>
          <p:cNvSpPr/>
          <p:nvPr/>
        </p:nvSpPr>
        <p:spPr>
          <a:xfrm>
            <a:off x="0" y="-4"/>
            <a:ext cx="9144000" cy="5143500"/>
          </a:xfrm>
          <a:prstGeom prst="rect">
            <a:avLst/>
          </a:prstGeom>
          <a:solidFill>
            <a:srgbClr val="EE4C2D"/>
          </a:solidFill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62"/>
          <p:cNvSpPr txBox="1"/>
          <p:nvPr>
            <p:ph type="ctrTitle"/>
          </p:nvPr>
        </p:nvSpPr>
        <p:spPr>
          <a:xfrm>
            <a:off x="685800" y="1767526"/>
            <a:ext cx="6607200" cy="10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384" name="Google Shape;384;p62"/>
          <p:cNvSpPr txBox="1"/>
          <p:nvPr>
            <p:ph idx="1" type="subTitle"/>
          </p:nvPr>
        </p:nvSpPr>
        <p:spPr>
          <a:xfrm>
            <a:off x="685800" y="3033074"/>
            <a:ext cx="66072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lvl="8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385" name="Google Shape;385;p62"/>
          <p:cNvSpPr/>
          <p:nvPr/>
        </p:nvSpPr>
        <p:spPr>
          <a:xfrm rot="-5400000">
            <a:off x="6625422" y="2624846"/>
            <a:ext cx="3186300" cy="1851000"/>
          </a:xfrm>
          <a:prstGeom prst="rtTriangle">
            <a:avLst/>
          </a:prstGeom>
          <a:solidFill>
            <a:srgbClr val="FF6632"/>
          </a:solidFill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62"/>
          <p:cNvSpPr/>
          <p:nvPr/>
        </p:nvSpPr>
        <p:spPr>
          <a:xfrm rot="-5400000">
            <a:off x="7791779" y="3791400"/>
            <a:ext cx="967200" cy="1737000"/>
          </a:xfrm>
          <a:prstGeom prst="rtTriangle">
            <a:avLst/>
          </a:prstGeom>
          <a:solidFill>
            <a:srgbClr val="13377A"/>
          </a:solidFill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62"/>
          <p:cNvSpPr/>
          <p:nvPr/>
        </p:nvSpPr>
        <p:spPr>
          <a:xfrm rot="10800000">
            <a:off x="4473300" y="-149"/>
            <a:ext cx="4670700" cy="2951400"/>
          </a:xfrm>
          <a:prstGeom prst="rtTriangle">
            <a:avLst/>
          </a:prstGeom>
          <a:solidFill>
            <a:srgbClr val="D0011D"/>
          </a:solidFill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19275" lIns="38575" spcFirstLastPara="1" rIns="38575" wrap="square" tIns="1927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 1" showMasterSp="0">
  <p:cSld name="TITLE_AND_BODY_1_2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3"/>
          <p:cNvSpPr txBox="1"/>
          <p:nvPr>
            <p:ph idx="12" type="sldNum"/>
          </p:nvPr>
        </p:nvSpPr>
        <p:spPr>
          <a:xfrm>
            <a:off x="8835380" y="4874311"/>
            <a:ext cx="3381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800"/>
              <a:buFont typeface="Roboto"/>
              <a:buNone/>
              <a:defRPr b="0" i="0" sz="10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900">
              <a:solidFill>
                <a:srgbClr val="999999"/>
              </a:solidFill>
            </a:endParaRPr>
          </a:p>
        </p:txBody>
      </p:sp>
      <p:cxnSp>
        <p:nvCxnSpPr>
          <p:cNvPr id="391" name="Google Shape;391;p63"/>
          <p:cNvCxnSpPr/>
          <p:nvPr/>
        </p:nvCxnSpPr>
        <p:spPr>
          <a:xfrm>
            <a:off x="554159" y="441986"/>
            <a:ext cx="8418000" cy="0"/>
          </a:xfrm>
          <a:prstGeom prst="straightConnector1">
            <a:avLst/>
          </a:prstGeom>
          <a:noFill/>
          <a:ln cap="flat" cmpd="sng" w="38100">
            <a:solidFill>
              <a:srgbClr val="ED4D2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shopee-logo-en.png" id="392" name="Google Shape;392;p63"/>
          <p:cNvPicPr preferRelativeResize="0"/>
          <p:nvPr/>
        </p:nvPicPr>
        <p:blipFill rotWithShape="1">
          <a:blip r:embed="rId2">
            <a:alphaModFix/>
          </a:blip>
          <a:srcRect b="0" l="0" r="71130" t="0"/>
          <a:stretch/>
        </p:blipFill>
        <p:spPr>
          <a:xfrm>
            <a:off x="166621" y="111716"/>
            <a:ext cx="336999" cy="369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andard header only 2 2">
  <p:cSld name="2_Standard header only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64"/>
          <p:cNvPicPr preferRelativeResize="0"/>
          <p:nvPr/>
        </p:nvPicPr>
        <p:blipFill rotWithShape="1">
          <a:blip r:embed="rId2">
            <a:alphaModFix/>
          </a:blip>
          <a:srcRect b="23989" l="0" r="0" t="0"/>
          <a:stretch/>
        </p:blipFill>
        <p:spPr>
          <a:xfrm>
            <a:off x="148058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" name="Google Shape;395;p64"/>
          <p:cNvCxnSpPr/>
          <p:nvPr/>
        </p:nvCxnSpPr>
        <p:spPr>
          <a:xfrm>
            <a:off x="2" y="555089"/>
            <a:ext cx="8858400" cy="0"/>
          </a:xfrm>
          <a:prstGeom prst="straightConnector1">
            <a:avLst/>
          </a:prstGeom>
          <a:noFill/>
          <a:ln cap="flat" cmpd="sng" w="381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64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50" lIns="28925" spcFirstLastPara="1" rIns="28925" wrap="square" tIns="1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64"/>
          <p:cNvSpPr txBox="1"/>
          <p:nvPr>
            <p:ph type="title"/>
          </p:nvPr>
        </p:nvSpPr>
        <p:spPr>
          <a:xfrm>
            <a:off x="533182" y="89321"/>
            <a:ext cx="807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8" name="Google Shape;398;p64"/>
          <p:cNvSpPr txBox="1"/>
          <p:nvPr>
            <p:ph idx="12" type="sldNum"/>
          </p:nvPr>
        </p:nvSpPr>
        <p:spPr>
          <a:xfrm>
            <a:off x="6946733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9" name="Google Shape;399;p64"/>
          <p:cNvSpPr txBox="1"/>
          <p:nvPr>
            <p:ph idx="1" type="body"/>
          </p:nvPr>
        </p:nvSpPr>
        <p:spPr>
          <a:xfrm>
            <a:off x="533181" y="933253"/>
            <a:ext cx="80775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0" name="Google Shape;400;p64"/>
          <p:cNvSpPr txBox="1"/>
          <p:nvPr/>
        </p:nvSpPr>
        <p:spPr>
          <a:xfrm>
            <a:off x="1311830" y="4811314"/>
            <a:ext cx="6663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25" lIns="67475" spcFirstLastPara="1" rIns="67475" wrap="square" tIns="410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/>
              <a:buNone/>
            </a:pPr>
            <a:r>
              <a:rPr b="0" i="0" lang="en-GB" sz="8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51.xml"/><Relationship Id="rId44" Type="http://schemas.openxmlformats.org/officeDocument/2006/relationships/slideLayout" Target="../slideLayouts/slideLayout54.xml"/><Relationship Id="rId43" Type="http://schemas.openxmlformats.org/officeDocument/2006/relationships/slideLayout" Target="../slideLayouts/slideLayout53.xml"/><Relationship Id="rId46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55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48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57.xml"/><Relationship Id="rId49" Type="http://schemas.openxmlformats.org/officeDocument/2006/relationships/slideLayout" Target="../slideLayouts/slideLayout5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9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61.xml"/><Relationship Id="rId50" Type="http://schemas.openxmlformats.org/officeDocument/2006/relationships/slideLayout" Target="../slideLayouts/slideLayout60.xml"/><Relationship Id="rId53" Type="http://schemas.openxmlformats.org/officeDocument/2006/relationships/theme" Target="../theme/theme3.xml"/><Relationship Id="rId52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94308" y="4928416"/>
            <a:ext cx="4947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75" lIns="38575" spcFirstLastPara="1" rIns="38575" wrap="square" tIns="19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2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198725" y="3464450"/>
            <a:ext cx="2818500" cy="5525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  <p:sldLayoutId id="2147483688" r:id="rId31"/>
    <p:sldLayoutId id="2147483689" r:id="rId32"/>
    <p:sldLayoutId id="2147483690" r:id="rId33"/>
    <p:sldLayoutId id="2147483691" r:id="rId34"/>
    <p:sldLayoutId id="2147483692" r:id="rId35"/>
    <p:sldLayoutId id="2147483693" r:id="rId36"/>
    <p:sldLayoutId id="2147483694" r:id="rId37"/>
    <p:sldLayoutId id="2147483695" r:id="rId38"/>
    <p:sldLayoutId id="2147483696" r:id="rId39"/>
    <p:sldLayoutId id="2147483697" r:id="rId40"/>
    <p:sldLayoutId id="2147483698" r:id="rId41"/>
    <p:sldLayoutId id="2147483699" r:id="rId42"/>
    <p:sldLayoutId id="2147483700" r:id="rId43"/>
    <p:sldLayoutId id="2147483701" r:id="rId44"/>
    <p:sldLayoutId id="2147483702" r:id="rId45"/>
    <p:sldLayoutId id="2147483703" r:id="rId46"/>
    <p:sldLayoutId id="2147483704" r:id="rId47"/>
    <p:sldLayoutId id="2147483705" r:id="rId48"/>
    <p:sldLayoutId id="2147483706" r:id="rId49"/>
    <p:sldLayoutId id="2147483707" r:id="rId50"/>
    <p:sldLayoutId id="2147483708" r:id="rId51"/>
    <p:sldLayoutId id="2147483709" r:id="rId5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jpg"/><Relationship Id="rId4" Type="http://schemas.openxmlformats.org/officeDocument/2006/relationships/image" Target="../media/image28.jpg"/><Relationship Id="rId9" Type="http://schemas.openxmlformats.org/officeDocument/2006/relationships/image" Target="../media/image48.jpg"/><Relationship Id="rId5" Type="http://schemas.openxmlformats.org/officeDocument/2006/relationships/image" Target="../media/image21.jpg"/><Relationship Id="rId6" Type="http://schemas.openxmlformats.org/officeDocument/2006/relationships/image" Target="../media/image20.jpg"/><Relationship Id="rId7" Type="http://schemas.openxmlformats.org/officeDocument/2006/relationships/image" Target="../media/image24.jpg"/><Relationship Id="rId8" Type="http://schemas.openxmlformats.org/officeDocument/2006/relationships/image" Target="../media/image22.jpg"/><Relationship Id="rId11" Type="http://schemas.openxmlformats.org/officeDocument/2006/relationships/image" Target="../media/image35.jpg"/><Relationship Id="rId10" Type="http://schemas.openxmlformats.org/officeDocument/2006/relationships/image" Target="../media/image37.jpg"/><Relationship Id="rId13" Type="http://schemas.openxmlformats.org/officeDocument/2006/relationships/image" Target="../media/image23.jpg"/><Relationship Id="rId12" Type="http://schemas.openxmlformats.org/officeDocument/2006/relationships/image" Target="../media/image29.jpg"/><Relationship Id="rId14" Type="http://schemas.openxmlformats.org/officeDocument/2006/relationships/image" Target="../media/image3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6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4.png"/><Relationship Id="rId4" Type="http://schemas.openxmlformats.org/officeDocument/2006/relationships/image" Target="../media/image4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6.png"/><Relationship Id="rId4" Type="http://schemas.openxmlformats.org/officeDocument/2006/relationships/image" Target="../media/image5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8.png"/><Relationship Id="rId4" Type="http://schemas.openxmlformats.org/officeDocument/2006/relationships/image" Target="../media/image6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5"/>
          <p:cNvSpPr/>
          <p:nvPr/>
        </p:nvSpPr>
        <p:spPr>
          <a:xfrm>
            <a:off x="4482913" y="2433250"/>
            <a:ext cx="17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65"/>
          <p:cNvSpPr txBox="1"/>
          <p:nvPr>
            <p:ph idx="1" type="subTitle"/>
          </p:nvPr>
        </p:nvSpPr>
        <p:spPr>
          <a:xfrm>
            <a:off x="513653" y="2406790"/>
            <a:ext cx="81168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b="1" lang="en-GB" sz="2800">
                <a:solidFill>
                  <a:schemeClr val="dk1"/>
                </a:solidFill>
              </a:rPr>
              <a:t>2026年 </a:t>
            </a:r>
            <a:r>
              <a:rPr b="1" lang="en-GB" sz="2800">
                <a:solidFill>
                  <a:schemeClr val="dk1"/>
                </a:solidFill>
              </a:rPr>
              <a:t>收藏</a:t>
            </a:r>
            <a:r>
              <a:rPr b="1" lang="en-GB" sz="2800">
                <a:solidFill>
                  <a:schemeClr val="dk1"/>
                </a:solidFill>
              </a:rPr>
              <a:t>品 </a:t>
            </a:r>
            <a:r>
              <a:rPr b="1" lang="en-GB" sz="2800">
                <a:solidFill>
                  <a:schemeClr val="dk1"/>
                </a:solidFill>
              </a:rPr>
              <a:t>类目概况分享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407" name="Google Shape;407;p65"/>
          <p:cNvSpPr txBox="1"/>
          <p:nvPr>
            <p:ph idx="1" type="subTitle"/>
          </p:nvPr>
        </p:nvSpPr>
        <p:spPr>
          <a:xfrm>
            <a:off x="513656" y="3224440"/>
            <a:ext cx="81168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b="1" lang="en-GB" sz="1600">
                <a:solidFill>
                  <a:srgbClr val="666666"/>
                </a:solidFill>
                <a:highlight>
                  <a:srgbClr val="FFFFFF"/>
                </a:highlight>
              </a:rPr>
              <a:t>2026/06</a:t>
            </a:r>
            <a:endParaRPr b="1" sz="16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b="1" sz="16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b="1" sz="1600">
              <a:solidFill>
                <a:srgbClr val="666666"/>
              </a:solidFill>
              <a:highlight>
                <a:srgbClr val="FFFFFF"/>
              </a:highlight>
            </a:endParaRPr>
          </a:p>
        </p:txBody>
      </p:sp>
      <p:sp>
        <p:nvSpPr>
          <p:cNvPr id="408" name="Google Shape;408;p65"/>
          <p:cNvSpPr txBox="1"/>
          <p:nvPr>
            <p:ph idx="12" type="sldNum"/>
          </p:nvPr>
        </p:nvSpPr>
        <p:spPr>
          <a:xfrm>
            <a:off x="66865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38575" spcFirstLastPara="1" rIns="38575" wrap="square" tIns="19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09" name="Google Shape;40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2431" y="492265"/>
            <a:ext cx="2528888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6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GB"/>
              <a:t>目录</a:t>
            </a:r>
            <a:endParaRPr/>
          </a:p>
        </p:txBody>
      </p:sp>
      <p:sp>
        <p:nvSpPr>
          <p:cNvPr id="415" name="Google Shape;415;p66"/>
          <p:cNvSpPr txBox="1"/>
          <p:nvPr/>
        </p:nvSpPr>
        <p:spPr>
          <a:xfrm>
            <a:off x="1526988" y="1551459"/>
            <a:ext cx="2747700" cy="519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L1类目概览</a:t>
            </a:r>
            <a:endParaRPr b="1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6" name="Google Shape;416;p66"/>
          <p:cNvSpPr txBox="1"/>
          <p:nvPr/>
        </p:nvSpPr>
        <p:spPr>
          <a:xfrm>
            <a:off x="1530806" y="2356257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主要L2类目展示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7" name="Google Shape;417;p66"/>
          <p:cNvSpPr txBox="1"/>
          <p:nvPr/>
        </p:nvSpPr>
        <p:spPr>
          <a:xfrm>
            <a:off x="1530382" y="3161092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重点L2类目概览</a:t>
            </a:r>
            <a:endParaRPr b="1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8" name="Google Shape;418;p66"/>
          <p:cNvSpPr txBox="1"/>
          <p:nvPr/>
        </p:nvSpPr>
        <p:spPr>
          <a:xfrm>
            <a:off x="5258263" y="1551461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重点L2类目下各L3规模展示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9" name="Google Shape;419;p66"/>
          <p:cNvSpPr txBox="1"/>
          <p:nvPr/>
        </p:nvSpPr>
        <p:spPr>
          <a:xfrm>
            <a:off x="947140" y="1547153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0" name="Google Shape;420;p66"/>
          <p:cNvSpPr txBox="1"/>
          <p:nvPr/>
        </p:nvSpPr>
        <p:spPr>
          <a:xfrm>
            <a:off x="947140" y="2353397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1" name="Google Shape;421;p66"/>
          <p:cNvSpPr txBox="1"/>
          <p:nvPr/>
        </p:nvSpPr>
        <p:spPr>
          <a:xfrm>
            <a:off x="947140" y="3159639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2" name="Google Shape;422;p66"/>
          <p:cNvSpPr txBox="1"/>
          <p:nvPr/>
        </p:nvSpPr>
        <p:spPr>
          <a:xfrm>
            <a:off x="4675020" y="1551452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423" name="Google Shape;423;p66"/>
          <p:cNvGrpSpPr/>
          <p:nvPr/>
        </p:nvGrpSpPr>
        <p:grpSpPr>
          <a:xfrm>
            <a:off x="4685387" y="2368168"/>
            <a:ext cx="3317175" cy="519363"/>
            <a:chOff x="6367418" y="3077955"/>
            <a:chExt cx="4653725" cy="459004"/>
          </a:xfrm>
        </p:grpSpPr>
        <p:sp>
          <p:nvSpPr>
            <p:cNvPr id="424" name="Google Shape;424;p66"/>
            <p:cNvSpPr txBox="1"/>
            <p:nvPr/>
          </p:nvSpPr>
          <p:spPr>
            <a:xfrm>
              <a:off x="7166443" y="3077955"/>
              <a:ext cx="3854700" cy="459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重点L3类目展示</a:t>
              </a:r>
              <a:endPara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425" name="Google Shape;425;p66"/>
            <p:cNvSpPr txBox="1"/>
            <p:nvPr/>
          </p:nvSpPr>
          <p:spPr>
            <a:xfrm>
              <a:off x="6367418" y="3077959"/>
              <a:ext cx="795900" cy="459000"/>
            </a:xfrm>
            <a:prstGeom prst="rect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1200" u="none" cap="none" strike="noStrik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5</a:t>
              </a:r>
              <a:endParaRPr b="1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426" name="Google Shape;426;p66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27" name="Google Shape;427;p66"/>
          <p:cNvGrpSpPr/>
          <p:nvPr/>
        </p:nvGrpSpPr>
        <p:grpSpPr>
          <a:xfrm>
            <a:off x="4685387" y="3184943"/>
            <a:ext cx="3317175" cy="519363"/>
            <a:chOff x="6367418" y="3077955"/>
            <a:chExt cx="4653725" cy="459004"/>
          </a:xfrm>
        </p:grpSpPr>
        <p:sp>
          <p:nvSpPr>
            <p:cNvPr id="428" name="Google Shape;428;p66"/>
            <p:cNvSpPr txBox="1"/>
            <p:nvPr/>
          </p:nvSpPr>
          <p:spPr>
            <a:xfrm>
              <a:off x="7166443" y="3077955"/>
              <a:ext cx="3854700" cy="459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近期热搜关键词分享</a:t>
              </a:r>
              <a:endPara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429" name="Google Shape;429;p66"/>
            <p:cNvSpPr txBox="1"/>
            <p:nvPr/>
          </p:nvSpPr>
          <p:spPr>
            <a:xfrm>
              <a:off x="6367418" y="3077959"/>
              <a:ext cx="795900" cy="459000"/>
            </a:xfrm>
            <a:prstGeom prst="rect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6</a:t>
              </a:r>
              <a:endParaRPr b="1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7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Hobbies &amp; Collections L1类目-各站点GMV历史趋势</a:t>
            </a:r>
            <a:endParaRPr/>
          </a:p>
        </p:txBody>
      </p:sp>
      <p:sp>
        <p:nvSpPr>
          <p:cNvPr id="435" name="Google Shape;435;p67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36" name="Google Shape;43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475" y="651225"/>
            <a:ext cx="7074162" cy="43272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7"/>
          <p:cNvSpPr txBox="1"/>
          <p:nvPr/>
        </p:nvSpPr>
        <p:spPr>
          <a:xfrm>
            <a:off x="728425" y="4630475"/>
            <a:ext cx="7315200" cy="323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Hobbies &amp; Collections为平台重要L1类目，随着市场渗透率的逐渐提升，大盘整体稳健增长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8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GB"/>
              <a:t>目录</a:t>
            </a:r>
            <a:endParaRPr/>
          </a:p>
        </p:txBody>
      </p:sp>
      <p:sp>
        <p:nvSpPr>
          <p:cNvPr id="443" name="Google Shape;443;p68"/>
          <p:cNvSpPr txBox="1"/>
          <p:nvPr/>
        </p:nvSpPr>
        <p:spPr>
          <a:xfrm>
            <a:off x="1526988" y="1551459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L1类目概览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4" name="Google Shape;444;p68"/>
          <p:cNvSpPr txBox="1"/>
          <p:nvPr/>
        </p:nvSpPr>
        <p:spPr>
          <a:xfrm>
            <a:off x="1530806" y="2356257"/>
            <a:ext cx="2747700" cy="519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主要L2类目展示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5" name="Google Shape;445;p68"/>
          <p:cNvSpPr txBox="1"/>
          <p:nvPr/>
        </p:nvSpPr>
        <p:spPr>
          <a:xfrm>
            <a:off x="1530382" y="3161092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重点L2类目概览</a:t>
            </a:r>
            <a:endParaRPr b="1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6" name="Google Shape;446;p68"/>
          <p:cNvSpPr txBox="1"/>
          <p:nvPr/>
        </p:nvSpPr>
        <p:spPr>
          <a:xfrm>
            <a:off x="5258263" y="1551461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重点L2类目下各L3规模展示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7" name="Google Shape;447;p68"/>
          <p:cNvSpPr txBox="1"/>
          <p:nvPr/>
        </p:nvSpPr>
        <p:spPr>
          <a:xfrm>
            <a:off x="947140" y="1547153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8" name="Google Shape;448;p68"/>
          <p:cNvSpPr txBox="1"/>
          <p:nvPr/>
        </p:nvSpPr>
        <p:spPr>
          <a:xfrm>
            <a:off x="947140" y="2353397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9" name="Google Shape;449;p68"/>
          <p:cNvSpPr txBox="1"/>
          <p:nvPr/>
        </p:nvSpPr>
        <p:spPr>
          <a:xfrm>
            <a:off x="947140" y="3159639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0" name="Google Shape;450;p68"/>
          <p:cNvSpPr txBox="1"/>
          <p:nvPr/>
        </p:nvSpPr>
        <p:spPr>
          <a:xfrm>
            <a:off x="4675020" y="1551452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451" name="Google Shape;451;p68"/>
          <p:cNvGrpSpPr/>
          <p:nvPr/>
        </p:nvGrpSpPr>
        <p:grpSpPr>
          <a:xfrm>
            <a:off x="4685387" y="2368168"/>
            <a:ext cx="3317175" cy="519363"/>
            <a:chOff x="6367418" y="3077955"/>
            <a:chExt cx="4653725" cy="459004"/>
          </a:xfrm>
        </p:grpSpPr>
        <p:sp>
          <p:nvSpPr>
            <p:cNvPr id="452" name="Google Shape;452;p68"/>
            <p:cNvSpPr txBox="1"/>
            <p:nvPr/>
          </p:nvSpPr>
          <p:spPr>
            <a:xfrm>
              <a:off x="7166443" y="3077955"/>
              <a:ext cx="3854700" cy="459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重点L3类目展示</a:t>
              </a:r>
              <a:endPara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453" name="Google Shape;453;p68"/>
            <p:cNvSpPr txBox="1"/>
            <p:nvPr/>
          </p:nvSpPr>
          <p:spPr>
            <a:xfrm>
              <a:off x="6367418" y="3077959"/>
              <a:ext cx="795900" cy="459000"/>
            </a:xfrm>
            <a:prstGeom prst="rect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1200" u="none" cap="none" strike="noStrik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5</a:t>
              </a:r>
              <a:endParaRPr b="1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454" name="Google Shape;454;p68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55" name="Google Shape;455;p68"/>
          <p:cNvGrpSpPr/>
          <p:nvPr/>
        </p:nvGrpSpPr>
        <p:grpSpPr>
          <a:xfrm>
            <a:off x="4685387" y="3184943"/>
            <a:ext cx="3317175" cy="519363"/>
            <a:chOff x="6367418" y="3077955"/>
            <a:chExt cx="4653725" cy="459004"/>
          </a:xfrm>
        </p:grpSpPr>
        <p:sp>
          <p:nvSpPr>
            <p:cNvPr id="456" name="Google Shape;456;p68"/>
            <p:cNvSpPr txBox="1"/>
            <p:nvPr/>
          </p:nvSpPr>
          <p:spPr>
            <a:xfrm>
              <a:off x="7166443" y="3077955"/>
              <a:ext cx="3854700" cy="459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近期热搜关键词分享</a:t>
              </a:r>
              <a:endPara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457" name="Google Shape;457;p68"/>
            <p:cNvSpPr txBox="1"/>
            <p:nvPr/>
          </p:nvSpPr>
          <p:spPr>
            <a:xfrm>
              <a:off x="6367418" y="3077959"/>
              <a:ext cx="795900" cy="459000"/>
            </a:xfrm>
            <a:prstGeom prst="rect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6</a:t>
              </a:r>
              <a:endParaRPr b="1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9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Hobbies &amp; Collections主要L2类目展示</a:t>
            </a:r>
            <a:endParaRPr/>
          </a:p>
        </p:txBody>
      </p:sp>
      <p:sp>
        <p:nvSpPr>
          <p:cNvPr id="463" name="Google Shape;463;p69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64" name="Google Shape;464;p69"/>
          <p:cNvGraphicFramePr/>
          <p:nvPr/>
        </p:nvGraphicFramePr>
        <p:xfrm>
          <a:off x="420250" y="820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{BD1BA930-9C6C-4BE9-A640-E6834597E2A7}</a:tableStyleId>
              </a:tblPr>
              <a:tblGrid>
                <a:gridCol w="866725"/>
                <a:gridCol w="1156625"/>
                <a:gridCol w="2190550"/>
                <a:gridCol w="870350"/>
                <a:gridCol w="975925"/>
                <a:gridCol w="2194000"/>
              </a:tblGrid>
              <a:tr h="355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1"/>
                          </a:solidFill>
                        </a:rPr>
                        <a:t>二</a:t>
                      </a:r>
                      <a:r>
                        <a:rPr b="1" lang="en-GB" sz="1100">
                          <a:solidFill>
                            <a:schemeClr val="lt1"/>
                          </a:solidFill>
                        </a:rPr>
                        <a:t>级品类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59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1"/>
                          </a:solidFill>
                        </a:rPr>
                        <a:t>主营产品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59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1"/>
                          </a:solidFill>
                        </a:rPr>
                        <a:t>产品举例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59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1"/>
                          </a:solidFill>
                        </a:rPr>
                        <a:t>二</a:t>
                      </a:r>
                      <a:r>
                        <a:rPr b="1" lang="en-GB" sz="1100">
                          <a:solidFill>
                            <a:schemeClr val="lt1"/>
                          </a:solidFill>
                        </a:rPr>
                        <a:t>级品类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59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1"/>
                          </a:solidFill>
                        </a:rPr>
                        <a:t>主营产品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59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>
                          <a:solidFill>
                            <a:schemeClr val="lt1"/>
                          </a:solidFill>
                        </a:rPr>
                        <a:t>产品举例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592B"/>
                    </a:solidFill>
                  </a:tcPr>
                </a:tc>
              </a:tr>
              <a:tr h="1147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黑胶唱片</a:t>
                      </a:r>
                      <a:endParaRPr b="1" sz="9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黑胶唱片及相关配件</a:t>
                      </a:r>
                      <a:endParaRPr sz="8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相册</a:t>
                      </a:r>
                      <a:endParaRPr b="1" sz="9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相册、卡册等</a:t>
                      </a:r>
                      <a:endParaRPr sz="8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FE5"/>
                    </a:solidFill>
                  </a:tcPr>
                </a:tc>
              </a:tr>
              <a:tr h="116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玩具和游戏</a:t>
                      </a:r>
                      <a:endParaRPr b="1" sz="9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魔方、溜溜球、扭蛋玩具、遥控玩具、魔术玩具、旋转陀螺、</a:t>
                      </a:r>
                      <a:r>
                        <a:rPr b="1" lang="en-GB" sz="8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其他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等</a:t>
                      </a:r>
                      <a:endParaRPr sz="8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乐器及配件</a:t>
                      </a:r>
                      <a:endParaRPr b="1" sz="9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弦乐器、管乐器、键盘和钢琴、打击乐器等</a:t>
                      </a:r>
                      <a:endParaRPr sz="8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FE5"/>
                    </a:solidFill>
                  </a:tcPr>
                </a:tc>
              </a:tr>
              <a:tr h="1185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纪念品</a:t>
                      </a:r>
                      <a:endParaRPr b="1" sz="9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钥匙扣、存钱罐、手扇、冰箱贴等</a:t>
                      </a:r>
                      <a:endParaRPr sz="8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收藏品</a:t>
                      </a:r>
                      <a:endParaRPr b="1" sz="9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可动人偶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、偶像收藏品、雕像和雕塑、动漫及漫画收藏品等</a:t>
                      </a:r>
                      <a:endParaRPr sz="8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FE5"/>
                    </a:solidFill>
                  </a:tcPr>
                </a:tc>
              </a:tr>
            </a:tbl>
          </a:graphicData>
        </a:graphic>
      </p:graphicFrame>
      <p:pic>
        <p:nvPicPr>
          <p:cNvPr id="465" name="Google Shape;46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6250" y="1220150"/>
            <a:ext cx="1027875" cy="102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4125" y="1220150"/>
            <a:ext cx="1027875" cy="102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9600" y="2440775"/>
            <a:ext cx="981175" cy="9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15813" y="2440775"/>
            <a:ext cx="981175" cy="9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43600" y="3468225"/>
            <a:ext cx="1074574" cy="107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94825" y="3478675"/>
            <a:ext cx="1074574" cy="107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6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48800" y="1220142"/>
            <a:ext cx="1027875" cy="102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9"/>
          <p:cNvPicPr preferRelativeResize="0"/>
          <p:nvPr/>
        </p:nvPicPr>
        <p:blipFill rotWithShape="1">
          <a:blip r:embed="rId10">
            <a:alphaModFix/>
          </a:blip>
          <a:srcRect b="4544" l="0" r="4544" t="0"/>
          <a:stretch/>
        </p:blipFill>
        <p:spPr>
          <a:xfrm>
            <a:off x="7576675" y="1220150"/>
            <a:ext cx="981175" cy="9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48800" y="2346793"/>
            <a:ext cx="1027875" cy="102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6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76675" y="2346800"/>
            <a:ext cx="1027875" cy="102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548800" y="3563900"/>
            <a:ext cx="981150" cy="9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6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529950" y="3596877"/>
            <a:ext cx="981175" cy="9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69"/>
          <p:cNvSpPr/>
          <p:nvPr/>
        </p:nvSpPr>
        <p:spPr>
          <a:xfrm>
            <a:off x="4572000" y="3473450"/>
            <a:ext cx="4156500" cy="1293900"/>
          </a:xfrm>
          <a:prstGeom prst="rect">
            <a:avLst/>
          </a:prstGeom>
          <a:noFill/>
          <a:ln cap="flat" cmpd="sng" w="38100">
            <a:solidFill>
              <a:srgbClr val="F15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0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GB"/>
              <a:t>目录</a:t>
            </a:r>
            <a:endParaRPr/>
          </a:p>
        </p:txBody>
      </p:sp>
      <p:sp>
        <p:nvSpPr>
          <p:cNvPr id="483" name="Google Shape;483;p70"/>
          <p:cNvSpPr txBox="1"/>
          <p:nvPr/>
        </p:nvSpPr>
        <p:spPr>
          <a:xfrm>
            <a:off x="1526988" y="1551459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L1类目概览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4" name="Google Shape;484;p70"/>
          <p:cNvSpPr txBox="1"/>
          <p:nvPr/>
        </p:nvSpPr>
        <p:spPr>
          <a:xfrm>
            <a:off x="1530806" y="2356257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主要L2类目展示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5" name="Google Shape;485;p70"/>
          <p:cNvSpPr txBox="1"/>
          <p:nvPr/>
        </p:nvSpPr>
        <p:spPr>
          <a:xfrm>
            <a:off x="1530382" y="3161092"/>
            <a:ext cx="2747700" cy="519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重点L2类目概览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6" name="Google Shape;486;p70"/>
          <p:cNvSpPr txBox="1"/>
          <p:nvPr/>
        </p:nvSpPr>
        <p:spPr>
          <a:xfrm>
            <a:off x="5258263" y="1551461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重点L2类目下各L3规模展示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7" name="Google Shape;487;p70"/>
          <p:cNvSpPr txBox="1"/>
          <p:nvPr/>
        </p:nvSpPr>
        <p:spPr>
          <a:xfrm>
            <a:off x="947140" y="1547153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8" name="Google Shape;488;p70"/>
          <p:cNvSpPr txBox="1"/>
          <p:nvPr/>
        </p:nvSpPr>
        <p:spPr>
          <a:xfrm>
            <a:off x="947140" y="2353397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9" name="Google Shape;489;p70"/>
          <p:cNvSpPr txBox="1"/>
          <p:nvPr/>
        </p:nvSpPr>
        <p:spPr>
          <a:xfrm>
            <a:off x="947140" y="3159639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0" name="Google Shape;490;p70"/>
          <p:cNvSpPr txBox="1"/>
          <p:nvPr/>
        </p:nvSpPr>
        <p:spPr>
          <a:xfrm>
            <a:off x="4675020" y="1551452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491" name="Google Shape;491;p70"/>
          <p:cNvGrpSpPr/>
          <p:nvPr/>
        </p:nvGrpSpPr>
        <p:grpSpPr>
          <a:xfrm>
            <a:off x="4685387" y="2368168"/>
            <a:ext cx="3317175" cy="519363"/>
            <a:chOff x="6367418" y="3077955"/>
            <a:chExt cx="4653725" cy="459004"/>
          </a:xfrm>
        </p:grpSpPr>
        <p:sp>
          <p:nvSpPr>
            <p:cNvPr id="492" name="Google Shape;492;p70"/>
            <p:cNvSpPr txBox="1"/>
            <p:nvPr/>
          </p:nvSpPr>
          <p:spPr>
            <a:xfrm>
              <a:off x="7166443" y="3077955"/>
              <a:ext cx="3854700" cy="459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重点L3类目展示</a:t>
              </a:r>
              <a:endPara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493" name="Google Shape;493;p70"/>
            <p:cNvSpPr txBox="1"/>
            <p:nvPr/>
          </p:nvSpPr>
          <p:spPr>
            <a:xfrm>
              <a:off x="6367418" y="3077959"/>
              <a:ext cx="795900" cy="459000"/>
            </a:xfrm>
            <a:prstGeom prst="rect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1200" u="none" cap="none" strike="noStrik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5</a:t>
              </a:r>
              <a:endParaRPr b="1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494" name="Google Shape;494;p70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95" name="Google Shape;495;p70"/>
          <p:cNvGrpSpPr/>
          <p:nvPr/>
        </p:nvGrpSpPr>
        <p:grpSpPr>
          <a:xfrm>
            <a:off x="4685387" y="3184943"/>
            <a:ext cx="3317175" cy="519363"/>
            <a:chOff x="6367418" y="3077955"/>
            <a:chExt cx="4653725" cy="459004"/>
          </a:xfrm>
        </p:grpSpPr>
        <p:sp>
          <p:nvSpPr>
            <p:cNvPr id="496" name="Google Shape;496;p70"/>
            <p:cNvSpPr txBox="1"/>
            <p:nvPr/>
          </p:nvSpPr>
          <p:spPr>
            <a:xfrm>
              <a:off x="7166443" y="3077955"/>
              <a:ext cx="3854700" cy="459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近期热搜关键词分享</a:t>
              </a:r>
              <a:endPara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497" name="Google Shape;497;p70"/>
            <p:cNvSpPr txBox="1"/>
            <p:nvPr/>
          </p:nvSpPr>
          <p:spPr>
            <a:xfrm>
              <a:off x="6367418" y="3077959"/>
              <a:ext cx="795900" cy="459000"/>
            </a:xfrm>
            <a:prstGeom prst="rect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6</a:t>
              </a:r>
              <a:endParaRPr b="1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1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ollectible Items L2类目-ADG月度趋势</a:t>
            </a:r>
            <a:endParaRPr/>
          </a:p>
        </p:txBody>
      </p:sp>
      <p:sp>
        <p:nvSpPr>
          <p:cNvPr id="503" name="Google Shape;503;p71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04" name="Google Shape;504;p71"/>
          <p:cNvPicPr preferRelativeResize="0"/>
          <p:nvPr/>
        </p:nvPicPr>
        <p:blipFill rotWithShape="1">
          <a:blip r:embed="rId3">
            <a:alphaModFix/>
          </a:blip>
          <a:srcRect b="0" l="0" r="0" t="10048"/>
          <a:stretch/>
        </p:blipFill>
        <p:spPr>
          <a:xfrm>
            <a:off x="523675" y="1153838"/>
            <a:ext cx="8115826" cy="3373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71"/>
          <p:cNvSpPr txBox="1"/>
          <p:nvPr/>
        </p:nvSpPr>
        <p:spPr>
          <a:xfrm>
            <a:off x="728425" y="4630475"/>
            <a:ext cx="76929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Collectible Items</a:t>
            </a:r>
            <a:r>
              <a:rPr lang="en-GB" sz="1000">
                <a:solidFill>
                  <a:schemeClr val="dk1"/>
                </a:solidFill>
              </a:rPr>
              <a:t>为L1内重要L2类</a:t>
            </a:r>
            <a:r>
              <a:rPr lang="en-GB" sz="1000">
                <a:solidFill>
                  <a:schemeClr val="dk1"/>
                </a:solidFill>
              </a:rPr>
              <a:t>目，</a:t>
            </a:r>
            <a:r>
              <a:rPr lang="en-GB" sz="1000">
                <a:solidFill>
                  <a:schemeClr val="dk1"/>
                </a:solidFill>
              </a:rPr>
              <a:t>过去随着类目头部玩家的放量，打开了广阔的市场空间，展现出类目在各个站点的不俗增长潜力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2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Collectible Items L2类目-ADO月度趋势</a:t>
            </a:r>
            <a:endParaRPr/>
          </a:p>
        </p:txBody>
      </p:sp>
      <p:sp>
        <p:nvSpPr>
          <p:cNvPr id="511" name="Google Shape;511;p72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12" name="Google Shape;512;p72"/>
          <p:cNvPicPr preferRelativeResize="0"/>
          <p:nvPr/>
        </p:nvPicPr>
        <p:blipFill rotWithShape="1">
          <a:blip r:embed="rId3">
            <a:alphaModFix/>
          </a:blip>
          <a:srcRect b="0" l="1420" r="0" t="7416"/>
          <a:stretch/>
        </p:blipFill>
        <p:spPr>
          <a:xfrm>
            <a:off x="420075" y="860050"/>
            <a:ext cx="8001125" cy="381197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72"/>
          <p:cNvSpPr txBox="1"/>
          <p:nvPr/>
        </p:nvSpPr>
        <p:spPr>
          <a:xfrm>
            <a:off x="728425" y="4630475"/>
            <a:ext cx="76929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Collectible Items为L1内重要L2类目，过去随着类目头部玩家的放量，打开了广阔的市场空间，展现出类目在各个站点的不俗增长潜力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3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Collectible Items L2类目-2026/06 ADG YoY增速表现</a:t>
            </a:r>
            <a:endParaRPr/>
          </a:p>
        </p:txBody>
      </p:sp>
      <p:sp>
        <p:nvSpPr>
          <p:cNvPr id="519" name="Google Shape;519;p73"/>
          <p:cNvSpPr txBox="1"/>
          <p:nvPr>
            <p:ph idx="12" type="sldNum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</p:spPr>
        <p:txBody>
          <a:bodyPr anchorCtr="0" anchor="ctr" bIns="19275" lIns="38575" spcFirstLastPara="1" rIns="38575" wrap="square" tIns="19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0" name="Google Shape;52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664120"/>
            <a:ext cx="6945520" cy="395074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73"/>
          <p:cNvSpPr txBox="1"/>
          <p:nvPr/>
        </p:nvSpPr>
        <p:spPr>
          <a:xfrm>
            <a:off x="415825" y="4344850"/>
            <a:ext cx="69957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2"/>
                </a:solidFill>
              </a:rPr>
              <a:t>*</a:t>
            </a:r>
            <a:r>
              <a:rPr i="1" lang="en-GB">
                <a:solidFill>
                  <a:schemeClr val="dk2"/>
                </a:solidFill>
              </a:rPr>
              <a:t>气泡大小代表各市场品类平均客单价，气泡越大，客单价越高，客单价单位为美金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522" name="Google Shape;522;p73"/>
          <p:cNvSpPr txBox="1"/>
          <p:nvPr/>
        </p:nvSpPr>
        <p:spPr>
          <a:xfrm>
            <a:off x="725550" y="4767250"/>
            <a:ext cx="7692900" cy="323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Collectible Items</a:t>
            </a:r>
            <a:r>
              <a:rPr lang="en-GB" sz="1000">
                <a:solidFill>
                  <a:schemeClr val="dk1"/>
                </a:solidFill>
              </a:rPr>
              <a:t>有一定积淀的站点如TW/TH/MY/PH等均已达到一定体谅规模；增速方面，如BR等新兴站点表现亮眼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4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Collectible Items L2类目-2026/06 ADO YoY增速表现</a:t>
            </a:r>
            <a:endParaRPr/>
          </a:p>
        </p:txBody>
      </p:sp>
      <p:sp>
        <p:nvSpPr>
          <p:cNvPr id="528" name="Google Shape;528;p74"/>
          <p:cNvSpPr txBox="1"/>
          <p:nvPr>
            <p:ph idx="12" type="sldNum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</p:spPr>
        <p:txBody>
          <a:bodyPr anchorCtr="0" anchor="ctr" bIns="19275" lIns="38575" spcFirstLastPara="1" rIns="38575" wrap="square" tIns="19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9" name="Google Shape;52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64120"/>
            <a:ext cx="8117134" cy="3950741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74"/>
          <p:cNvSpPr txBox="1"/>
          <p:nvPr/>
        </p:nvSpPr>
        <p:spPr>
          <a:xfrm>
            <a:off x="415825" y="4344850"/>
            <a:ext cx="69957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2"/>
                </a:solidFill>
              </a:rPr>
              <a:t>*气泡大小代表各市场品类平均客单价，气泡越大，客单价越高，客单价单位为美金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531" name="Google Shape;531;p74"/>
          <p:cNvSpPr txBox="1"/>
          <p:nvPr/>
        </p:nvSpPr>
        <p:spPr>
          <a:xfrm>
            <a:off x="725550" y="4767250"/>
            <a:ext cx="7692900" cy="323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Collectible Items有一定积淀的站点如TW/TH/MY/PH等均已达到一定体谅规模；增速方面，如BR等新兴站点表现亮眼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5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Collectible Items L2类目-</a:t>
            </a:r>
            <a:r>
              <a:rPr lang="en-GB"/>
              <a:t>各市场年度销售额增长</a:t>
            </a:r>
            <a:endParaRPr/>
          </a:p>
        </p:txBody>
      </p:sp>
      <p:sp>
        <p:nvSpPr>
          <p:cNvPr id="537" name="Google Shape;537;p75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38" name="Google Shape;53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045" y="858223"/>
            <a:ext cx="7528831" cy="29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75"/>
          <p:cNvSpPr txBox="1"/>
          <p:nvPr/>
        </p:nvSpPr>
        <p:spPr>
          <a:xfrm>
            <a:off x="725550" y="4246550"/>
            <a:ext cx="7692900" cy="323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Collectible Items</a:t>
            </a:r>
            <a:r>
              <a:rPr lang="en-GB" sz="1000">
                <a:solidFill>
                  <a:schemeClr val="dk1"/>
                </a:solidFill>
              </a:rPr>
              <a:t>目前大盘增长受到类目相关top1卖家增长放缓影响，大盘增速明显放缓；新兴站点增长亮眼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6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Collectible Items L2类目-</a:t>
            </a:r>
            <a:r>
              <a:rPr lang="en-GB"/>
              <a:t>各市场销售额趋势</a:t>
            </a:r>
            <a:endParaRPr/>
          </a:p>
        </p:txBody>
      </p:sp>
      <p:sp>
        <p:nvSpPr>
          <p:cNvPr id="545" name="Google Shape;545;p76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46" name="Google Shape;54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850" y="717886"/>
            <a:ext cx="8058301" cy="3707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7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Collectible Items L2类目-</a:t>
            </a:r>
            <a:r>
              <a:rPr lang="en-GB"/>
              <a:t>各市场客单价</a:t>
            </a:r>
            <a:endParaRPr/>
          </a:p>
        </p:txBody>
      </p:sp>
      <p:sp>
        <p:nvSpPr>
          <p:cNvPr id="552" name="Google Shape;552;p77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53" name="Google Shape;55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700" y="651200"/>
            <a:ext cx="63627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8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Collectible Items L2类目-</a:t>
            </a:r>
            <a:r>
              <a:rPr lang="en-GB"/>
              <a:t>不同价格段GMV分布情况&amp;增速</a:t>
            </a:r>
            <a:endParaRPr/>
          </a:p>
        </p:txBody>
      </p:sp>
      <p:sp>
        <p:nvSpPr>
          <p:cNvPr id="559" name="Google Shape;559;p78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60" name="Google Shape;56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000" y="765500"/>
            <a:ext cx="8839200" cy="3400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9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GB"/>
              <a:t>目录</a:t>
            </a:r>
            <a:endParaRPr/>
          </a:p>
        </p:txBody>
      </p:sp>
      <p:sp>
        <p:nvSpPr>
          <p:cNvPr id="566" name="Google Shape;566;p79"/>
          <p:cNvSpPr txBox="1"/>
          <p:nvPr/>
        </p:nvSpPr>
        <p:spPr>
          <a:xfrm>
            <a:off x="1526988" y="1551459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L1类目概览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7" name="Google Shape;567;p79"/>
          <p:cNvSpPr txBox="1"/>
          <p:nvPr/>
        </p:nvSpPr>
        <p:spPr>
          <a:xfrm>
            <a:off x="1530806" y="2356257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主要L2类目展示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8" name="Google Shape;568;p79"/>
          <p:cNvSpPr txBox="1"/>
          <p:nvPr/>
        </p:nvSpPr>
        <p:spPr>
          <a:xfrm>
            <a:off x="1530382" y="3161092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重点L2类目概览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9" name="Google Shape;569;p79"/>
          <p:cNvSpPr txBox="1"/>
          <p:nvPr/>
        </p:nvSpPr>
        <p:spPr>
          <a:xfrm>
            <a:off x="5258263" y="1551461"/>
            <a:ext cx="2747700" cy="519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重点L2类目下各L3规模展示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0" name="Google Shape;570;p79"/>
          <p:cNvSpPr txBox="1"/>
          <p:nvPr/>
        </p:nvSpPr>
        <p:spPr>
          <a:xfrm>
            <a:off x="947140" y="1547153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1" name="Google Shape;571;p79"/>
          <p:cNvSpPr txBox="1"/>
          <p:nvPr/>
        </p:nvSpPr>
        <p:spPr>
          <a:xfrm>
            <a:off x="947140" y="2353397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2" name="Google Shape;572;p79"/>
          <p:cNvSpPr txBox="1"/>
          <p:nvPr/>
        </p:nvSpPr>
        <p:spPr>
          <a:xfrm>
            <a:off x="947140" y="3159639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3" name="Google Shape;573;p79"/>
          <p:cNvSpPr txBox="1"/>
          <p:nvPr/>
        </p:nvSpPr>
        <p:spPr>
          <a:xfrm>
            <a:off x="4675020" y="1551452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574" name="Google Shape;574;p79"/>
          <p:cNvGrpSpPr/>
          <p:nvPr/>
        </p:nvGrpSpPr>
        <p:grpSpPr>
          <a:xfrm>
            <a:off x="4685387" y="2368168"/>
            <a:ext cx="3317175" cy="519363"/>
            <a:chOff x="6367418" y="3077955"/>
            <a:chExt cx="4653725" cy="459004"/>
          </a:xfrm>
        </p:grpSpPr>
        <p:sp>
          <p:nvSpPr>
            <p:cNvPr id="575" name="Google Shape;575;p79"/>
            <p:cNvSpPr txBox="1"/>
            <p:nvPr/>
          </p:nvSpPr>
          <p:spPr>
            <a:xfrm>
              <a:off x="7166443" y="3077955"/>
              <a:ext cx="3854700" cy="459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重点L3类目展示</a:t>
              </a:r>
              <a:endPara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576" name="Google Shape;576;p79"/>
            <p:cNvSpPr txBox="1"/>
            <p:nvPr/>
          </p:nvSpPr>
          <p:spPr>
            <a:xfrm>
              <a:off x="6367418" y="3077959"/>
              <a:ext cx="795900" cy="459000"/>
            </a:xfrm>
            <a:prstGeom prst="rect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1200" u="none" cap="none" strike="noStrike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5</a:t>
              </a:r>
              <a:endParaRPr b="1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577" name="Google Shape;577;p79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578" name="Google Shape;578;p79"/>
          <p:cNvGrpSpPr/>
          <p:nvPr/>
        </p:nvGrpSpPr>
        <p:grpSpPr>
          <a:xfrm>
            <a:off x="4685387" y="3184943"/>
            <a:ext cx="3317175" cy="519363"/>
            <a:chOff x="6367418" y="3077955"/>
            <a:chExt cx="4653725" cy="459004"/>
          </a:xfrm>
        </p:grpSpPr>
        <p:sp>
          <p:nvSpPr>
            <p:cNvPr id="579" name="Google Shape;579;p79"/>
            <p:cNvSpPr txBox="1"/>
            <p:nvPr/>
          </p:nvSpPr>
          <p:spPr>
            <a:xfrm>
              <a:off x="7166443" y="3077955"/>
              <a:ext cx="3854700" cy="459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近期热搜关键词分享</a:t>
              </a:r>
              <a:endPara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580" name="Google Shape;580;p79"/>
            <p:cNvSpPr txBox="1"/>
            <p:nvPr/>
          </p:nvSpPr>
          <p:spPr>
            <a:xfrm>
              <a:off x="6367418" y="3077959"/>
              <a:ext cx="795900" cy="459000"/>
            </a:xfrm>
            <a:prstGeom prst="rect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6</a:t>
              </a:r>
              <a:endParaRPr b="1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0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Collectible Items L2类目下各L3体量&amp;增长速度</a:t>
            </a:r>
            <a:endParaRPr/>
          </a:p>
        </p:txBody>
      </p:sp>
      <p:sp>
        <p:nvSpPr>
          <p:cNvPr id="586" name="Google Shape;586;p80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87" name="Google Shape;587;p80"/>
          <p:cNvPicPr preferRelativeResize="0"/>
          <p:nvPr/>
        </p:nvPicPr>
        <p:blipFill rotWithShape="1">
          <a:blip r:embed="rId3">
            <a:alphaModFix/>
          </a:blip>
          <a:srcRect b="6322" l="3172" r="11779" t="10608"/>
          <a:stretch/>
        </p:blipFill>
        <p:spPr>
          <a:xfrm>
            <a:off x="877925" y="662675"/>
            <a:ext cx="6691252" cy="4233876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80"/>
          <p:cNvSpPr/>
          <p:nvPr/>
        </p:nvSpPr>
        <p:spPr>
          <a:xfrm>
            <a:off x="6219800" y="937825"/>
            <a:ext cx="1349400" cy="358500"/>
          </a:xfrm>
          <a:prstGeom prst="rect">
            <a:avLst/>
          </a:prstGeom>
          <a:noFill/>
          <a:ln cap="flat" cmpd="sng" w="1905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80"/>
          <p:cNvSpPr txBox="1"/>
          <p:nvPr/>
        </p:nvSpPr>
        <p:spPr>
          <a:xfrm>
            <a:off x="7130850" y="1396925"/>
            <a:ext cx="1616100" cy="60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Action Figurines为L2下规模最大的L3，L2下大多数L3目前增长都相对稳定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81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GB"/>
              <a:t>目录</a:t>
            </a:r>
            <a:endParaRPr/>
          </a:p>
        </p:txBody>
      </p:sp>
      <p:sp>
        <p:nvSpPr>
          <p:cNvPr id="595" name="Google Shape;595;p81"/>
          <p:cNvSpPr txBox="1"/>
          <p:nvPr/>
        </p:nvSpPr>
        <p:spPr>
          <a:xfrm>
            <a:off x="1526988" y="1551459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L1类目概览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6" name="Google Shape;596;p81"/>
          <p:cNvSpPr txBox="1"/>
          <p:nvPr/>
        </p:nvSpPr>
        <p:spPr>
          <a:xfrm>
            <a:off x="1530806" y="2356257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主要L2类目展示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7" name="Google Shape;597;p81"/>
          <p:cNvSpPr txBox="1"/>
          <p:nvPr/>
        </p:nvSpPr>
        <p:spPr>
          <a:xfrm>
            <a:off x="1530382" y="3161092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重点L2类目概览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8" name="Google Shape;598;p81"/>
          <p:cNvSpPr txBox="1"/>
          <p:nvPr/>
        </p:nvSpPr>
        <p:spPr>
          <a:xfrm>
            <a:off x="5258263" y="1551461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重点L2类目下各L3规模展示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9" name="Google Shape;599;p81"/>
          <p:cNvSpPr txBox="1"/>
          <p:nvPr/>
        </p:nvSpPr>
        <p:spPr>
          <a:xfrm>
            <a:off x="947140" y="1547153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0" name="Google Shape;600;p81"/>
          <p:cNvSpPr txBox="1"/>
          <p:nvPr/>
        </p:nvSpPr>
        <p:spPr>
          <a:xfrm>
            <a:off x="947140" y="2353397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1" name="Google Shape;601;p81"/>
          <p:cNvSpPr txBox="1"/>
          <p:nvPr/>
        </p:nvSpPr>
        <p:spPr>
          <a:xfrm>
            <a:off x="947140" y="3159639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2" name="Google Shape;602;p81"/>
          <p:cNvSpPr txBox="1"/>
          <p:nvPr/>
        </p:nvSpPr>
        <p:spPr>
          <a:xfrm>
            <a:off x="4675020" y="1551452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3" name="Google Shape;603;p81"/>
          <p:cNvSpPr txBox="1"/>
          <p:nvPr/>
        </p:nvSpPr>
        <p:spPr>
          <a:xfrm>
            <a:off x="5254932" y="2368168"/>
            <a:ext cx="2747630" cy="519358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重点L3类目展示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4" name="Google Shape;604;p81"/>
          <p:cNvSpPr txBox="1"/>
          <p:nvPr/>
        </p:nvSpPr>
        <p:spPr>
          <a:xfrm>
            <a:off x="4685387" y="2368173"/>
            <a:ext cx="567318" cy="519358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b="1" sz="12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5" name="Google Shape;605;p81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606" name="Google Shape;606;p81"/>
          <p:cNvGrpSpPr/>
          <p:nvPr/>
        </p:nvGrpSpPr>
        <p:grpSpPr>
          <a:xfrm>
            <a:off x="4685387" y="3184943"/>
            <a:ext cx="3317175" cy="519363"/>
            <a:chOff x="6367418" y="3077955"/>
            <a:chExt cx="4653725" cy="459004"/>
          </a:xfrm>
        </p:grpSpPr>
        <p:sp>
          <p:nvSpPr>
            <p:cNvPr id="607" name="Google Shape;607;p81"/>
            <p:cNvSpPr txBox="1"/>
            <p:nvPr/>
          </p:nvSpPr>
          <p:spPr>
            <a:xfrm>
              <a:off x="7166443" y="3077955"/>
              <a:ext cx="3854700" cy="459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近期热搜关键词分享</a:t>
              </a:r>
              <a:endPara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608" name="Google Shape;608;p81"/>
            <p:cNvSpPr txBox="1"/>
            <p:nvPr/>
          </p:nvSpPr>
          <p:spPr>
            <a:xfrm>
              <a:off x="6367418" y="3077959"/>
              <a:ext cx="795900" cy="459000"/>
            </a:xfrm>
            <a:prstGeom prst="rect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6</a:t>
              </a:r>
              <a:endParaRPr b="1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2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Collectible Items （L2）-- Action Figurines（L3）top listing</a:t>
            </a:r>
            <a:endParaRPr/>
          </a:p>
        </p:txBody>
      </p:sp>
      <p:sp>
        <p:nvSpPr>
          <p:cNvPr id="614" name="Google Shape;614;p82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15" name="Google Shape;61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663900"/>
            <a:ext cx="6955171" cy="4479599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82"/>
          <p:cNvSpPr txBox="1"/>
          <p:nvPr/>
        </p:nvSpPr>
        <p:spPr>
          <a:xfrm>
            <a:off x="7666100" y="4447800"/>
            <a:ext cx="13299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2"/>
                </a:solidFill>
              </a:rPr>
              <a:t>2026/06</a:t>
            </a:r>
            <a:r>
              <a:rPr i="1" lang="en-GB" sz="1200">
                <a:solidFill>
                  <a:schemeClr val="dk2"/>
                </a:solidFill>
              </a:rPr>
              <a:t>数据，内容仅供参考</a:t>
            </a:r>
            <a:endParaRPr i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3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Action Figurines-</a:t>
            </a:r>
            <a:r>
              <a:rPr lang="en-GB"/>
              <a:t>L3类目-ADG月度趋势</a:t>
            </a:r>
            <a:endParaRPr/>
          </a:p>
        </p:txBody>
      </p:sp>
      <p:sp>
        <p:nvSpPr>
          <p:cNvPr id="622" name="Google Shape;622;p83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23" name="Google Shape;623;p83"/>
          <p:cNvPicPr preferRelativeResize="0"/>
          <p:nvPr/>
        </p:nvPicPr>
        <p:blipFill rotWithShape="1">
          <a:blip r:embed="rId3">
            <a:alphaModFix/>
          </a:blip>
          <a:srcRect b="0" l="0" r="0" t="12549"/>
          <a:stretch/>
        </p:blipFill>
        <p:spPr>
          <a:xfrm>
            <a:off x="383975" y="778573"/>
            <a:ext cx="8226776" cy="34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4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Action Figurines-L3类目-ADO月度趋势</a:t>
            </a:r>
            <a:endParaRPr/>
          </a:p>
        </p:txBody>
      </p:sp>
      <p:sp>
        <p:nvSpPr>
          <p:cNvPr id="629" name="Google Shape;629;p84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30" name="Google Shape;630;p84"/>
          <p:cNvPicPr preferRelativeResize="0"/>
          <p:nvPr/>
        </p:nvPicPr>
        <p:blipFill rotWithShape="1">
          <a:blip r:embed="rId3">
            <a:alphaModFix/>
          </a:blip>
          <a:srcRect b="0" l="0" r="0" t="8475"/>
          <a:stretch/>
        </p:blipFill>
        <p:spPr>
          <a:xfrm>
            <a:off x="617500" y="1061300"/>
            <a:ext cx="7909000" cy="30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5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Action Figurines-L3类目</a:t>
            </a:r>
            <a:r>
              <a:rPr lang="en-GB"/>
              <a:t>-2026/06 ADG YoY增速表现</a:t>
            </a:r>
            <a:endParaRPr/>
          </a:p>
        </p:txBody>
      </p:sp>
      <p:sp>
        <p:nvSpPr>
          <p:cNvPr id="636" name="Google Shape;636;p85"/>
          <p:cNvSpPr txBox="1"/>
          <p:nvPr>
            <p:ph idx="12" type="sldNum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</p:spPr>
        <p:txBody>
          <a:bodyPr anchorCtr="0" anchor="ctr" bIns="19275" lIns="38575" spcFirstLastPara="1" rIns="38575" wrap="square" tIns="19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7" name="Google Shape;637;p85"/>
          <p:cNvSpPr txBox="1"/>
          <p:nvPr/>
        </p:nvSpPr>
        <p:spPr>
          <a:xfrm>
            <a:off x="415825" y="4344850"/>
            <a:ext cx="69957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2"/>
                </a:solidFill>
              </a:rPr>
              <a:t>*气泡大小代表各市场品类平均客单价，气泡越大，客单价越高，客单价单位为美金</a:t>
            </a:r>
            <a:endParaRPr i="1">
              <a:solidFill>
                <a:schemeClr val="dk2"/>
              </a:solidFill>
            </a:endParaRPr>
          </a:p>
        </p:txBody>
      </p:sp>
      <p:pic>
        <p:nvPicPr>
          <p:cNvPr id="638" name="Google Shape;638;p85"/>
          <p:cNvPicPr preferRelativeResize="0"/>
          <p:nvPr/>
        </p:nvPicPr>
        <p:blipFill rotWithShape="1">
          <a:blip r:embed="rId3">
            <a:alphaModFix/>
          </a:blip>
          <a:srcRect b="5599" l="3565" r="13323" t="10712"/>
          <a:stretch/>
        </p:blipFill>
        <p:spPr>
          <a:xfrm>
            <a:off x="326925" y="699250"/>
            <a:ext cx="7407939" cy="35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6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Action Figurines-L3类目</a:t>
            </a:r>
            <a:r>
              <a:rPr lang="en-GB"/>
              <a:t>-2026/06 ADO YoY增速表现</a:t>
            </a:r>
            <a:endParaRPr/>
          </a:p>
        </p:txBody>
      </p:sp>
      <p:sp>
        <p:nvSpPr>
          <p:cNvPr id="644" name="Google Shape;644;p86"/>
          <p:cNvSpPr txBox="1"/>
          <p:nvPr>
            <p:ph idx="12" type="sldNum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</p:spPr>
        <p:txBody>
          <a:bodyPr anchorCtr="0" anchor="ctr" bIns="19275" lIns="38575" spcFirstLastPara="1" rIns="38575" wrap="square" tIns="19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45" name="Google Shape;645;p86"/>
          <p:cNvPicPr preferRelativeResize="0"/>
          <p:nvPr/>
        </p:nvPicPr>
        <p:blipFill rotWithShape="1">
          <a:blip r:embed="rId3">
            <a:alphaModFix/>
          </a:blip>
          <a:srcRect b="18193" l="5283" r="2355" t="19052"/>
          <a:stretch/>
        </p:blipFill>
        <p:spPr>
          <a:xfrm>
            <a:off x="279088" y="769200"/>
            <a:ext cx="8585967" cy="3196738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86"/>
          <p:cNvSpPr txBox="1"/>
          <p:nvPr/>
        </p:nvSpPr>
        <p:spPr>
          <a:xfrm>
            <a:off x="415825" y="4344850"/>
            <a:ext cx="69957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2"/>
                </a:solidFill>
              </a:rPr>
              <a:t>*气泡大小代表各市场品类平均客单价，气泡越大，客单价越高，客单价单位为美金</a:t>
            </a:r>
            <a:endParaRPr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7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Action Figurines-L3类目</a:t>
            </a:r>
            <a:r>
              <a:rPr lang="en-GB"/>
              <a:t>-各市场年度销售额增长</a:t>
            </a:r>
            <a:endParaRPr/>
          </a:p>
        </p:txBody>
      </p:sp>
      <p:sp>
        <p:nvSpPr>
          <p:cNvPr id="652" name="Google Shape;652;p87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53" name="Google Shape;653;p87"/>
          <p:cNvPicPr preferRelativeResize="0"/>
          <p:nvPr/>
        </p:nvPicPr>
        <p:blipFill rotWithShape="1">
          <a:blip r:embed="rId3">
            <a:alphaModFix/>
          </a:blip>
          <a:srcRect b="0" l="8676" r="0" t="0"/>
          <a:stretch/>
        </p:blipFill>
        <p:spPr>
          <a:xfrm>
            <a:off x="115675" y="741325"/>
            <a:ext cx="5428149" cy="25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0200" y="1228599"/>
            <a:ext cx="3582225" cy="201035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87"/>
          <p:cNvSpPr txBox="1"/>
          <p:nvPr/>
        </p:nvSpPr>
        <p:spPr>
          <a:xfrm>
            <a:off x="5543825" y="576226"/>
            <a:ext cx="3287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类目相关卖家除top1外卖家26年GMV总和</a:t>
            </a:r>
            <a:endParaRPr b="1" sz="1200"/>
          </a:p>
        </p:txBody>
      </p:sp>
      <p:sp>
        <p:nvSpPr>
          <p:cNvPr id="656" name="Google Shape;656;p87"/>
          <p:cNvSpPr txBox="1"/>
          <p:nvPr/>
        </p:nvSpPr>
        <p:spPr>
          <a:xfrm>
            <a:off x="381900" y="3690663"/>
            <a:ext cx="8531400" cy="62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Microsoft Yahei"/>
                <a:ea typeface="Microsoft Yahei"/>
                <a:cs typeface="Microsoft Yahei"/>
                <a:sym typeface="Microsoft Yahei"/>
              </a:rPr>
              <a:t>类目整体增速下滑主要原因为类目内top1卖家有所下滑，类目集中化程度下降，为其他卖家的</a:t>
            </a:r>
            <a:r>
              <a:rPr b="1" lang="en-GB" sz="1300">
                <a:latin typeface="Microsoft Yahei"/>
                <a:ea typeface="Microsoft Yahei"/>
                <a:cs typeface="Microsoft Yahei"/>
                <a:sym typeface="Microsoft Yahei"/>
              </a:rPr>
              <a:t>增长创造客观机会</a:t>
            </a:r>
            <a:endParaRPr b="1" sz="1300"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Microsoft Yahei"/>
                <a:ea typeface="Microsoft Yahei"/>
                <a:cs typeface="Microsoft Yahei"/>
                <a:sym typeface="Microsoft Yahei"/>
              </a:rPr>
              <a:t>2026年已有数家卖家在半年内实现&gt;100%的GMV增长！某卖家2026年有4个月实现&gt;100%月度增速！</a:t>
            </a:r>
            <a:endParaRPr b="1" sz="1300"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8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Action Figurines-L3类目</a:t>
            </a:r>
            <a:r>
              <a:rPr lang="en-GB"/>
              <a:t>-各市场销售额趋势</a:t>
            </a:r>
            <a:endParaRPr/>
          </a:p>
        </p:txBody>
      </p:sp>
      <p:sp>
        <p:nvSpPr>
          <p:cNvPr id="662" name="Google Shape;662;p88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63" name="Google Shape;66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63900"/>
            <a:ext cx="8556000" cy="3950963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88"/>
          <p:cNvSpPr txBox="1"/>
          <p:nvPr/>
        </p:nvSpPr>
        <p:spPr>
          <a:xfrm>
            <a:off x="164700" y="4518588"/>
            <a:ext cx="8531400" cy="62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Microsoft Yahei"/>
                <a:ea typeface="Microsoft Yahei"/>
                <a:cs typeface="Microsoft Yahei"/>
                <a:sym typeface="Microsoft Yahei"/>
              </a:rPr>
              <a:t>类目整体增速下滑主要原因为类目内top1卖家有所下滑，类目集中化程度下降，为其他卖家的</a:t>
            </a:r>
            <a:r>
              <a:rPr b="1" lang="en-GB" sz="1300">
                <a:latin typeface="Microsoft Yahei"/>
                <a:ea typeface="Microsoft Yahei"/>
                <a:cs typeface="Microsoft Yahei"/>
                <a:sym typeface="Microsoft Yahei"/>
              </a:rPr>
              <a:t>增长创造客观机会</a:t>
            </a:r>
            <a:endParaRPr b="1" sz="1300"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Microsoft Yahei"/>
                <a:ea typeface="Microsoft Yahei"/>
                <a:cs typeface="Microsoft Yahei"/>
                <a:sym typeface="Microsoft Yahei"/>
              </a:rPr>
              <a:t>2026年已有数家卖家在半年内实现&gt;100%的GMV增长！某卖家2026年有4个月实现&gt;100%月度增速！</a:t>
            </a:r>
            <a:endParaRPr b="1" sz="1300"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9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Action Figurines-L3类目</a:t>
            </a:r>
            <a:r>
              <a:rPr lang="en-GB"/>
              <a:t>-各市场客单价</a:t>
            </a:r>
            <a:endParaRPr/>
          </a:p>
        </p:txBody>
      </p:sp>
      <p:sp>
        <p:nvSpPr>
          <p:cNvPr id="670" name="Google Shape;670;p89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71" name="Google Shape;67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561975"/>
            <a:ext cx="731520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90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Action Figurines-L3类目</a:t>
            </a:r>
            <a:r>
              <a:rPr lang="en-GB"/>
              <a:t>-不同价格段GMV分布情况&amp;增速</a:t>
            </a:r>
            <a:endParaRPr/>
          </a:p>
        </p:txBody>
      </p:sp>
      <p:sp>
        <p:nvSpPr>
          <p:cNvPr id="677" name="Google Shape;677;p90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78" name="Google Shape;678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63900"/>
            <a:ext cx="8839202" cy="3404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91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Action Figurines-L3类目-近期广告热词</a:t>
            </a:r>
            <a:endParaRPr/>
          </a:p>
        </p:txBody>
      </p:sp>
      <p:sp>
        <p:nvSpPr>
          <p:cNvPr id="684" name="Google Shape;684;p91"/>
          <p:cNvSpPr txBox="1"/>
          <p:nvPr>
            <p:ph idx="12" type="sldNum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</p:spPr>
        <p:txBody>
          <a:bodyPr anchorCtr="0" anchor="ctr" bIns="19275" lIns="38575" spcFirstLastPara="1" rIns="38575" wrap="square" tIns="19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85" name="Google Shape;685;p91"/>
          <p:cNvPicPr preferRelativeResize="0"/>
          <p:nvPr/>
        </p:nvPicPr>
        <p:blipFill rotWithShape="1">
          <a:blip r:embed="rId3">
            <a:alphaModFix/>
          </a:blip>
          <a:srcRect b="0" l="0" r="0" t="5231"/>
          <a:stretch/>
        </p:blipFill>
        <p:spPr>
          <a:xfrm>
            <a:off x="233850" y="641175"/>
            <a:ext cx="8556776" cy="346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2"/>
          <p:cNvSpPr txBox="1"/>
          <p:nvPr>
            <p:ph type="title"/>
          </p:nvPr>
        </p:nvSpPr>
        <p:spPr>
          <a:xfrm>
            <a:off x="552450" y="76200"/>
            <a:ext cx="80583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GB"/>
              <a:t>目录</a:t>
            </a:r>
            <a:endParaRPr/>
          </a:p>
        </p:txBody>
      </p:sp>
      <p:sp>
        <p:nvSpPr>
          <p:cNvPr id="691" name="Google Shape;691;p92"/>
          <p:cNvSpPr txBox="1"/>
          <p:nvPr/>
        </p:nvSpPr>
        <p:spPr>
          <a:xfrm>
            <a:off x="1526988" y="1551459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L1类目概览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2" name="Google Shape;692;p92"/>
          <p:cNvSpPr txBox="1"/>
          <p:nvPr/>
        </p:nvSpPr>
        <p:spPr>
          <a:xfrm>
            <a:off x="1530806" y="2356257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主要L2类目展示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3" name="Google Shape;693;p92"/>
          <p:cNvSpPr txBox="1"/>
          <p:nvPr/>
        </p:nvSpPr>
        <p:spPr>
          <a:xfrm>
            <a:off x="1530382" y="3161092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重点L2类目概览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4" name="Google Shape;694;p92"/>
          <p:cNvSpPr txBox="1"/>
          <p:nvPr/>
        </p:nvSpPr>
        <p:spPr>
          <a:xfrm>
            <a:off x="5258263" y="1551461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重点L2类目下各L3规模展示</a:t>
            </a:r>
            <a:endParaRPr b="1"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5" name="Google Shape;695;p92"/>
          <p:cNvSpPr txBox="1"/>
          <p:nvPr/>
        </p:nvSpPr>
        <p:spPr>
          <a:xfrm>
            <a:off x="947140" y="1547153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6" name="Google Shape;696;p92"/>
          <p:cNvSpPr txBox="1"/>
          <p:nvPr/>
        </p:nvSpPr>
        <p:spPr>
          <a:xfrm>
            <a:off x="947140" y="2353397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7" name="Google Shape;697;p92"/>
          <p:cNvSpPr txBox="1"/>
          <p:nvPr/>
        </p:nvSpPr>
        <p:spPr>
          <a:xfrm>
            <a:off x="947140" y="3159639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8" name="Google Shape;698;p92"/>
          <p:cNvSpPr txBox="1"/>
          <p:nvPr/>
        </p:nvSpPr>
        <p:spPr>
          <a:xfrm>
            <a:off x="4675020" y="1551452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1" i="0" sz="12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9" name="Google Shape;699;p92"/>
          <p:cNvSpPr txBox="1"/>
          <p:nvPr/>
        </p:nvSpPr>
        <p:spPr>
          <a:xfrm>
            <a:off x="5254932" y="2368168"/>
            <a:ext cx="2747700" cy="51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重点L3类目展示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0" name="Google Shape;700;p92"/>
          <p:cNvSpPr txBox="1"/>
          <p:nvPr/>
        </p:nvSpPr>
        <p:spPr>
          <a:xfrm>
            <a:off x="4685387" y="2368173"/>
            <a:ext cx="567300" cy="519300"/>
          </a:xfrm>
          <a:prstGeom prst="rect">
            <a:avLst/>
          </a:prstGeom>
          <a:solidFill>
            <a:srgbClr val="EE4D2D"/>
          </a:solidFill>
          <a:ln cap="flat" cmpd="sng" w="9525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b="1" sz="12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1" name="Google Shape;701;p92"/>
          <p:cNvSpPr txBox="1"/>
          <p:nvPr>
            <p:ph idx="12" type="sldNum"/>
          </p:nvPr>
        </p:nvSpPr>
        <p:spPr>
          <a:xfrm>
            <a:off x="8421212" y="4767263"/>
            <a:ext cx="57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702" name="Google Shape;702;p92"/>
          <p:cNvGrpSpPr/>
          <p:nvPr/>
        </p:nvGrpSpPr>
        <p:grpSpPr>
          <a:xfrm>
            <a:off x="4685387" y="3184943"/>
            <a:ext cx="3317175" cy="519363"/>
            <a:chOff x="6367418" y="3077955"/>
            <a:chExt cx="4653725" cy="459004"/>
          </a:xfrm>
        </p:grpSpPr>
        <p:sp>
          <p:nvSpPr>
            <p:cNvPr id="703" name="Google Shape;703;p92"/>
            <p:cNvSpPr txBox="1"/>
            <p:nvPr/>
          </p:nvSpPr>
          <p:spPr>
            <a:xfrm>
              <a:off x="7166443" y="3077955"/>
              <a:ext cx="3854700" cy="4590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近期</a:t>
              </a:r>
              <a:r>
                <a:rPr b="1" lang="en-GB" sz="1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相关</a:t>
              </a:r>
              <a:r>
                <a:rPr b="1" lang="en-GB" sz="1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热搜关键词分享</a:t>
              </a:r>
              <a:endPara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704" name="Google Shape;704;p92"/>
            <p:cNvSpPr txBox="1"/>
            <p:nvPr/>
          </p:nvSpPr>
          <p:spPr>
            <a:xfrm>
              <a:off x="6367418" y="3077959"/>
              <a:ext cx="795900" cy="459000"/>
            </a:xfrm>
            <a:prstGeom prst="rect">
              <a:avLst/>
            </a:prstGeom>
            <a:solidFill>
              <a:srgbClr val="EE4D2D"/>
            </a:solidFill>
            <a:ln cap="flat" cmpd="sng" w="9525">
              <a:solidFill>
                <a:srgbClr val="EE4D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GB" sz="12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6</a:t>
              </a:r>
              <a:endParaRPr b="1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93"/>
          <p:cNvSpPr txBox="1"/>
          <p:nvPr>
            <p:ph type="title"/>
          </p:nvPr>
        </p:nvSpPr>
        <p:spPr>
          <a:xfrm>
            <a:off x="533182" y="89321"/>
            <a:ext cx="8077500" cy="4224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SG近期热搜词-</a:t>
            </a:r>
            <a:r>
              <a:rPr lang="en-GB"/>
              <a:t>shopee</a:t>
            </a:r>
            <a:r>
              <a:rPr lang="en-GB"/>
              <a:t>平台</a:t>
            </a:r>
            <a:br>
              <a:rPr lang="en-GB"/>
            </a:br>
            <a:r>
              <a:rPr lang="en-GB" sz="1356">
                <a:solidFill>
                  <a:srgbClr val="999999"/>
                </a:solidFill>
              </a:rPr>
              <a:t>日本动漫、KPop相关词占据主导</a:t>
            </a:r>
            <a:endParaRPr sz="1356">
              <a:solidFill>
                <a:srgbClr val="999999"/>
              </a:solidFill>
            </a:endParaRPr>
          </a:p>
        </p:txBody>
      </p:sp>
      <p:sp>
        <p:nvSpPr>
          <p:cNvPr id="710" name="Google Shape;710;p93"/>
          <p:cNvSpPr txBox="1"/>
          <p:nvPr/>
        </p:nvSpPr>
        <p:spPr>
          <a:xfrm>
            <a:off x="6559750" y="4741375"/>
            <a:ext cx="24591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600">
                <a:solidFill>
                  <a:schemeClr val="dk2"/>
                </a:solidFill>
              </a:rPr>
              <a:t>*取数范围：潮玩大盘各站点top 2000词；</a:t>
            </a:r>
            <a:endParaRPr i="1" sz="600">
              <a:solidFill>
                <a:schemeClr val="dk2"/>
              </a:solidFill>
            </a:endParaRPr>
          </a:p>
        </p:txBody>
      </p:sp>
      <p:pic>
        <p:nvPicPr>
          <p:cNvPr id="711" name="Google Shape;71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64121"/>
            <a:ext cx="3941529" cy="4326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2375" y="664121"/>
            <a:ext cx="4025867" cy="43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93"/>
          <p:cNvSpPr txBox="1"/>
          <p:nvPr/>
        </p:nvSpPr>
        <p:spPr>
          <a:xfrm>
            <a:off x="5464200" y="4910775"/>
            <a:ext cx="3679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800">
                <a:solidFill>
                  <a:schemeClr val="dk2"/>
                </a:solidFill>
              </a:rPr>
              <a:t>*2026/06数据，数据仅供参考</a:t>
            </a:r>
            <a:r>
              <a:rPr b="1" lang="en-GB" sz="800">
                <a:solidFill>
                  <a:srgbClr val="777777"/>
                </a:solidFill>
              </a:rPr>
              <a:t>；</a:t>
            </a:r>
            <a:r>
              <a:rPr b="1" i="1" lang="en-GB" sz="800">
                <a:solidFill>
                  <a:schemeClr val="dk2"/>
                </a:solidFill>
              </a:rPr>
              <a:t>取数范围：潮玩大盘各站点top 2000词；</a:t>
            </a:r>
            <a:endParaRPr b="1" i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777777"/>
              </a:solidFill>
            </a:endParaRPr>
          </a:p>
        </p:txBody>
      </p:sp>
      <p:sp>
        <p:nvSpPr>
          <p:cNvPr id="714" name="Google Shape;714;p93"/>
          <p:cNvSpPr txBox="1"/>
          <p:nvPr/>
        </p:nvSpPr>
        <p:spPr>
          <a:xfrm>
            <a:off x="0" y="4919375"/>
            <a:ext cx="2591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600">
                <a:solidFill>
                  <a:schemeClr val="dk2"/>
                </a:solidFill>
              </a:rPr>
              <a:t>*翻译为Google自动翻译,仅供参考，情谊关键词实际翻译为准；</a:t>
            </a:r>
            <a:endParaRPr i="1"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9" name="Google Shape;71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25" y="644446"/>
            <a:ext cx="3931933" cy="4326979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94"/>
          <p:cNvSpPr txBox="1"/>
          <p:nvPr>
            <p:ph type="title"/>
          </p:nvPr>
        </p:nvSpPr>
        <p:spPr>
          <a:xfrm>
            <a:off x="533182" y="89321"/>
            <a:ext cx="8077500" cy="4224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MY近期热搜词</a:t>
            </a:r>
            <a:r>
              <a:rPr lang="en-GB"/>
              <a:t>-shopee平台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6">
                <a:solidFill>
                  <a:srgbClr val="999999"/>
                </a:solidFill>
              </a:rPr>
              <a:t>blindbox等词的搜索量很高</a:t>
            </a:r>
            <a:endParaRPr sz="1356">
              <a:solidFill>
                <a:srgbClr val="999999"/>
              </a:solidFill>
            </a:endParaRPr>
          </a:p>
        </p:txBody>
      </p:sp>
      <p:sp>
        <p:nvSpPr>
          <p:cNvPr id="721" name="Google Shape;721;p94"/>
          <p:cNvSpPr txBox="1"/>
          <p:nvPr/>
        </p:nvSpPr>
        <p:spPr>
          <a:xfrm>
            <a:off x="6559750" y="4741375"/>
            <a:ext cx="2459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600">
                <a:solidFill>
                  <a:schemeClr val="dk2"/>
                </a:solidFill>
              </a:rPr>
              <a:t>*取数范围：潮玩大盘各站点top 2000词；</a:t>
            </a:r>
            <a:endParaRPr i="1" sz="600">
              <a:solidFill>
                <a:schemeClr val="dk2"/>
              </a:solidFill>
            </a:endParaRPr>
          </a:p>
        </p:txBody>
      </p:sp>
      <p:pic>
        <p:nvPicPr>
          <p:cNvPr id="722" name="Google Shape;722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3650" y="644450"/>
            <a:ext cx="4008184" cy="43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94"/>
          <p:cNvSpPr txBox="1"/>
          <p:nvPr/>
        </p:nvSpPr>
        <p:spPr>
          <a:xfrm>
            <a:off x="0" y="4919375"/>
            <a:ext cx="2591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600">
                <a:solidFill>
                  <a:schemeClr val="dk2"/>
                </a:solidFill>
              </a:rPr>
              <a:t>*翻译为Google自动翻译,仅供参考，情谊关键词实际翻译为准；</a:t>
            </a:r>
            <a:endParaRPr i="1" sz="600">
              <a:solidFill>
                <a:schemeClr val="dk2"/>
              </a:solidFill>
            </a:endParaRPr>
          </a:p>
        </p:txBody>
      </p:sp>
      <p:sp>
        <p:nvSpPr>
          <p:cNvPr id="724" name="Google Shape;724;p94"/>
          <p:cNvSpPr txBox="1"/>
          <p:nvPr/>
        </p:nvSpPr>
        <p:spPr>
          <a:xfrm>
            <a:off x="5464200" y="4910775"/>
            <a:ext cx="3679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800">
                <a:solidFill>
                  <a:schemeClr val="dk2"/>
                </a:solidFill>
              </a:rPr>
              <a:t>*2026/06数据，数据仅供参考</a:t>
            </a:r>
            <a:r>
              <a:rPr b="1" lang="en-GB" sz="800">
                <a:solidFill>
                  <a:srgbClr val="777777"/>
                </a:solidFill>
              </a:rPr>
              <a:t>；</a:t>
            </a:r>
            <a:r>
              <a:rPr b="1" i="1" lang="en-GB" sz="800">
                <a:solidFill>
                  <a:schemeClr val="dk2"/>
                </a:solidFill>
              </a:rPr>
              <a:t>取数范围：潮玩大盘各站点top 2000词；</a:t>
            </a:r>
            <a:endParaRPr b="1" i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77777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25" y="664109"/>
            <a:ext cx="3677619" cy="4326978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95"/>
          <p:cNvSpPr txBox="1"/>
          <p:nvPr>
            <p:ph type="title"/>
          </p:nvPr>
        </p:nvSpPr>
        <p:spPr>
          <a:xfrm>
            <a:off x="533182" y="89321"/>
            <a:ext cx="8077500" cy="4224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TH近期热搜词</a:t>
            </a:r>
            <a:r>
              <a:rPr lang="en-GB"/>
              <a:t>-shopee平台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6">
                <a:solidFill>
                  <a:srgbClr val="999999"/>
                </a:solidFill>
              </a:rPr>
              <a:t>海贼王/宝可梦依然为主要的IP搜索趋势</a:t>
            </a:r>
            <a:endParaRPr b="0" sz="1689">
              <a:solidFill>
                <a:srgbClr val="7F7F7F"/>
              </a:solidFill>
            </a:endParaRPr>
          </a:p>
        </p:txBody>
      </p:sp>
      <p:sp>
        <p:nvSpPr>
          <p:cNvPr id="731" name="Google Shape;731;p95"/>
          <p:cNvSpPr txBox="1"/>
          <p:nvPr/>
        </p:nvSpPr>
        <p:spPr>
          <a:xfrm>
            <a:off x="0" y="4919375"/>
            <a:ext cx="2591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600">
                <a:solidFill>
                  <a:schemeClr val="dk2"/>
                </a:solidFill>
              </a:rPr>
              <a:t>*翻译为Google自动翻译,仅供参考，情谊关键词实际翻译为准；</a:t>
            </a:r>
            <a:endParaRPr i="1" sz="600">
              <a:solidFill>
                <a:schemeClr val="dk2"/>
              </a:solidFill>
            </a:endParaRPr>
          </a:p>
        </p:txBody>
      </p:sp>
      <p:pic>
        <p:nvPicPr>
          <p:cNvPr id="732" name="Google Shape;732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5876" y="664099"/>
            <a:ext cx="3772896" cy="4326974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95"/>
          <p:cNvSpPr txBox="1"/>
          <p:nvPr/>
        </p:nvSpPr>
        <p:spPr>
          <a:xfrm>
            <a:off x="5464200" y="4910775"/>
            <a:ext cx="3679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800">
                <a:solidFill>
                  <a:schemeClr val="dk2"/>
                </a:solidFill>
              </a:rPr>
              <a:t>*2026/06数据，数据仅供参考</a:t>
            </a:r>
            <a:r>
              <a:rPr b="1" lang="en-GB" sz="800">
                <a:solidFill>
                  <a:srgbClr val="777777"/>
                </a:solidFill>
              </a:rPr>
              <a:t>；</a:t>
            </a:r>
            <a:r>
              <a:rPr b="1" i="1" lang="en-GB" sz="800">
                <a:solidFill>
                  <a:schemeClr val="dk2"/>
                </a:solidFill>
              </a:rPr>
              <a:t>取数范围：潮玩大盘各站点top 2000词；</a:t>
            </a:r>
            <a:endParaRPr b="1" i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77777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375" y="605146"/>
            <a:ext cx="3933616" cy="4326978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96"/>
          <p:cNvSpPr txBox="1"/>
          <p:nvPr>
            <p:ph type="title"/>
          </p:nvPr>
        </p:nvSpPr>
        <p:spPr>
          <a:xfrm>
            <a:off x="533182" y="89321"/>
            <a:ext cx="8077500" cy="4224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PH近期热搜词</a:t>
            </a:r>
            <a:r>
              <a:rPr lang="en-GB"/>
              <a:t>-shopee平台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6">
                <a:solidFill>
                  <a:srgbClr val="999999"/>
                </a:solidFill>
              </a:rPr>
              <a:t>宝可梦及Hirono为top 2搜索IP</a:t>
            </a:r>
            <a:endParaRPr sz="1356">
              <a:solidFill>
                <a:srgbClr val="999999"/>
              </a:solidFill>
            </a:endParaRPr>
          </a:p>
        </p:txBody>
      </p:sp>
      <p:pic>
        <p:nvPicPr>
          <p:cNvPr id="740" name="Google Shape;740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605150"/>
            <a:ext cx="3886275" cy="4284039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96"/>
          <p:cNvSpPr txBox="1"/>
          <p:nvPr/>
        </p:nvSpPr>
        <p:spPr>
          <a:xfrm>
            <a:off x="0" y="4919375"/>
            <a:ext cx="2591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600">
                <a:solidFill>
                  <a:schemeClr val="dk2"/>
                </a:solidFill>
              </a:rPr>
              <a:t>*翻译为Google自动翻译,仅供参考，情谊关键词实际翻译为准；</a:t>
            </a:r>
            <a:endParaRPr i="1" sz="600">
              <a:solidFill>
                <a:schemeClr val="dk2"/>
              </a:solidFill>
            </a:endParaRPr>
          </a:p>
        </p:txBody>
      </p:sp>
      <p:sp>
        <p:nvSpPr>
          <p:cNvPr id="742" name="Google Shape;742;p96"/>
          <p:cNvSpPr txBox="1"/>
          <p:nvPr/>
        </p:nvSpPr>
        <p:spPr>
          <a:xfrm>
            <a:off x="5464200" y="4910775"/>
            <a:ext cx="3679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800">
                <a:solidFill>
                  <a:schemeClr val="dk2"/>
                </a:solidFill>
              </a:rPr>
              <a:t>*2026/06数据，数据仅供参考</a:t>
            </a:r>
            <a:r>
              <a:rPr b="1" lang="en-GB" sz="800">
                <a:solidFill>
                  <a:srgbClr val="777777"/>
                </a:solidFill>
              </a:rPr>
              <a:t>；</a:t>
            </a:r>
            <a:r>
              <a:rPr b="1" i="1" lang="en-GB" sz="800">
                <a:solidFill>
                  <a:schemeClr val="dk2"/>
                </a:solidFill>
              </a:rPr>
              <a:t>取数范围：潮玩大盘各站点top 2000词；</a:t>
            </a:r>
            <a:endParaRPr b="1" i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77777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97"/>
          <p:cNvSpPr txBox="1"/>
          <p:nvPr>
            <p:ph type="title"/>
          </p:nvPr>
        </p:nvSpPr>
        <p:spPr>
          <a:xfrm>
            <a:off x="533182" y="89321"/>
            <a:ext cx="8077500" cy="4224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ID近期热搜词</a:t>
            </a:r>
            <a:r>
              <a:rPr lang="en-GB"/>
              <a:t>-shopee平台</a:t>
            </a:r>
            <a:br>
              <a:rPr lang="en-GB"/>
            </a:br>
            <a:r>
              <a:rPr lang="en-GB" sz="1356">
                <a:solidFill>
                  <a:srgbClr val="999999"/>
                </a:solidFill>
              </a:rPr>
              <a:t>宝可梦IP搜索趋势高，该站点对于钥匙链等产品也有较高的需求</a:t>
            </a:r>
            <a:endParaRPr sz="1356">
              <a:solidFill>
                <a:srgbClr val="999999"/>
              </a:solidFill>
            </a:endParaRPr>
          </a:p>
        </p:txBody>
      </p:sp>
      <p:pic>
        <p:nvPicPr>
          <p:cNvPr id="748" name="Google Shape;74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64121"/>
            <a:ext cx="3819764" cy="4326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901" y="664125"/>
            <a:ext cx="4214330" cy="4326976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97"/>
          <p:cNvSpPr txBox="1"/>
          <p:nvPr/>
        </p:nvSpPr>
        <p:spPr>
          <a:xfrm>
            <a:off x="0" y="4919375"/>
            <a:ext cx="2591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600">
                <a:solidFill>
                  <a:schemeClr val="dk2"/>
                </a:solidFill>
              </a:rPr>
              <a:t>*翻译为Google自动翻译,仅供参考，情谊关键词实际翻译为准；</a:t>
            </a:r>
            <a:endParaRPr i="1" sz="600">
              <a:solidFill>
                <a:schemeClr val="dk2"/>
              </a:solidFill>
            </a:endParaRPr>
          </a:p>
        </p:txBody>
      </p:sp>
      <p:sp>
        <p:nvSpPr>
          <p:cNvPr id="751" name="Google Shape;751;p97"/>
          <p:cNvSpPr txBox="1"/>
          <p:nvPr/>
        </p:nvSpPr>
        <p:spPr>
          <a:xfrm>
            <a:off x="5464200" y="4910775"/>
            <a:ext cx="3679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800">
                <a:solidFill>
                  <a:schemeClr val="dk2"/>
                </a:solidFill>
              </a:rPr>
              <a:t>*2026/06数据，数据仅供参考</a:t>
            </a:r>
            <a:r>
              <a:rPr b="1" lang="en-GB" sz="800">
                <a:solidFill>
                  <a:srgbClr val="777777"/>
                </a:solidFill>
              </a:rPr>
              <a:t>；</a:t>
            </a:r>
            <a:r>
              <a:rPr b="1" i="1" lang="en-GB" sz="800">
                <a:solidFill>
                  <a:schemeClr val="dk2"/>
                </a:solidFill>
              </a:rPr>
              <a:t>取数范围：潮玩大盘各站点top 2000词；</a:t>
            </a:r>
            <a:endParaRPr b="1" i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77777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98"/>
          <p:cNvSpPr txBox="1"/>
          <p:nvPr>
            <p:ph type="title"/>
          </p:nvPr>
        </p:nvSpPr>
        <p:spPr>
          <a:xfrm>
            <a:off x="574057" y="62096"/>
            <a:ext cx="8077500" cy="422400"/>
          </a:xfrm>
          <a:prstGeom prst="rect">
            <a:avLst/>
          </a:prstGeom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VN近期热搜词</a:t>
            </a:r>
            <a:r>
              <a:rPr lang="en-GB"/>
              <a:t>-shopee平台</a:t>
            </a:r>
            <a:br>
              <a:rPr lang="en-GB"/>
            </a:br>
            <a:r>
              <a:rPr lang="en-GB" sz="1356">
                <a:solidFill>
                  <a:srgbClr val="999999"/>
                </a:solidFill>
              </a:rPr>
              <a:t>近期Corties等韩团在越南的搜索指数较高</a:t>
            </a:r>
            <a:endParaRPr sz="1356">
              <a:solidFill>
                <a:srgbClr val="999999"/>
              </a:solidFill>
            </a:endParaRPr>
          </a:p>
        </p:txBody>
      </p:sp>
      <p:pic>
        <p:nvPicPr>
          <p:cNvPr id="757" name="Google Shape;75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425" y="636896"/>
            <a:ext cx="3694476" cy="4354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6300" y="636901"/>
            <a:ext cx="4400658" cy="4354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98"/>
          <p:cNvSpPr txBox="1"/>
          <p:nvPr/>
        </p:nvSpPr>
        <p:spPr>
          <a:xfrm>
            <a:off x="0" y="4919375"/>
            <a:ext cx="2591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600">
                <a:solidFill>
                  <a:schemeClr val="dk2"/>
                </a:solidFill>
              </a:rPr>
              <a:t>*翻译为Google自动翻译,仅供参考，情谊关键词实际翻译为准；</a:t>
            </a:r>
            <a:endParaRPr i="1" sz="600">
              <a:solidFill>
                <a:schemeClr val="dk2"/>
              </a:solidFill>
            </a:endParaRPr>
          </a:p>
        </p:txBody>
      </p:sp>
      <p:sp>
        <p:nvSpPr>
          <p:cNvPr id="760" name="Google Shape;760;p98"/>
          <p:cNvSpPr txBox="1"/>
          <p:nvPr/>
        </p:nvSpPr>
        <p:spPr>
          <a:xfrm>
            <a:off x="5464200" y="4910775"/>
            <a:ext cx="3679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800">
                <a:solidFill>
                  <a:schemeClr val="dk2"/>
                </a:solidFill>
              </a:rPr>
              <a:t>*2026/06数据，数据仅供参考</a:t>
            </a:r>
            <a:r>
              <a:rPr b="1" lang="en-GB" sz="800">
                <a:solidFill>
                  <a:srgbClr val="777777"/>
                </a:solidFill>
              </a:rPr>
              <a:t>；</a:t>
            </a:r>
            <a:r>
              <a:rPr b="1" i="1" lang="en-GB" sz="800">
                <a:solidFill>
                  <a:schemeClr val="dk2"/>
                </a:solidFill>
              </a:rPr>
              <a:t>取数范围：潮玩大盘各站点top 2000词；</a:t>
            </a:r>
            <a:endParaRPr b="1" i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77777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9"/>
          <p:cNvSpPr txBox="1"/>
          <p:nvPr>
            <p:ph type="ctrTitle"/>
          </p:nvPr>
        </p:nvSpPr>
        <p:spPr>
          <a:xfrm>
            <a:off x="685800" y="1626525"/>
            <a:ext cx="7527000" cy="10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GB" sz="3600"/>
              <a:t>THANK YOU</a:t>
            </a:r>
            <a:endParaRPr b="1" sz="3600"/>
          </a:p>
        </p:txBody>
      </p:sp>
      <p:sp>
        <p:nvSpPr>
          <p:cNvPr id="766" name="Google Shape;766;p99"/>
          <p:cNvSpPr txBox="1"/>
          <p:nvPr>
            <p:ph idx="12" type="sldNum"/>
          </p:nvPr>
        </p:nvSpPr>
        <p:spPr>
          <a:xfrm>
            <a:off x="8683883" y="4810813"/>
            <a:ext cx="411600" cy="295200"/>
          </a:xfrm>
          <a:prstGeom prst="rect">
            <a:avLst/>
          </a:prstGeom>
        </p:spPr>
        <p:txBody>
          <a:bodyPr anchorCtr="0" anchor="t" bIns="19275" lIns="38575" spcFirstLastPara="1" rIns="38575" wrap="square" tIns="19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自定义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4D2D"/>
      </a:accent2>
      <a:accent3>
        <a:srgbClr val="ED7D31"/>
      </a:accent3>
      <a:accent4>
        <a:srgbClr val="FFC000"/>
      </a:accent4>
      <a:accent5>
        <a:srgbClr val="F8CBAD"/>
      </a:accent5>
      <a:accent6>
        <a:srgbClr val="FFE699"/>
      </a:accent6>
      <a:hlink>
        <a:srgbClr val="FF6600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